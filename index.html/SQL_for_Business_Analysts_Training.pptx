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Ketw3lVZ3IZxK0IY5Cuc6835I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1D8431-F489-4EF2-A0D0-525C25C85F7D}">
  <a:tblStyle styleId="{5D1D8431-F489-4EF2-A0D0-525C25C85F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43352"/>
          </a:solidFill>
          <a:ln cap="flat" cmpd="sng" w="12700">
            <a:solidFill>
              <a:srgbClr val="24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1E2F52"/>
          </a:solidFill>
          <a:ln cap="flat" cmpd="sng" w="12700">
            <a:solidFill>
              <a:srgbClr val="1E2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10058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OPERATION SERVICES </a:t>
            </a:r>
            <a:r>
              <a:rPr b="0" i="0" lang="en-US" sz="9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TRAINING CURRICULUM  •  BUSINESS </a:t>
            </a: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141732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for Business Analysts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2743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Finding Missing Data · Investigating Fee Errors · Building Investigation Queries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3291840"/>
            <a:ext cx="5029200" cy="2286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02920" y="3520440"/>
            <a:ext cx="2377440" cy="347472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3520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W3Schools </a:t>
            </a: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Certification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08960" y="3520440"/>
            <a:ext cx="2377440" cy="347472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108960" y="3520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         Operations Services - </a:t>
            </a: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r>
              <a:rPr lang="en-US" sz="9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 Analyst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15000" y="3520440"/>
            <a:ext cx="2377440" cy="347472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715000" y="3520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6 Modules + Case Study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We'll Cover Today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TRAINING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1480" y="118872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1480" y="118872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94360" y="118872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43000" y="12801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SQL Foundations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166420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SELECT, WHERE, ORDER BY, AND/OR/NOT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46320" y="118872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029200" y="118872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77840" y="12801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Filtering &amp; Pattern Matching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577840" y="166420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LIKE, IN, BETWEEN, NULL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242316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" y="242316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94360" y="242316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4300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Aggregate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43000" y="28986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COUNT, SUM, AVG, MIN/MAX, GROUP BY, HAVING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46320" y="242316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029200" y="242316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57784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JOINs — Combining 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577840" y="28986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INNER, LEFT, RIGHT, FULL JOIN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11480" y="365760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11480" y="365760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94360" y="365760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43000" y="37490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Subqueries &amp; Advanced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43000" y="4133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Subqueries, EXISTS, CASE, UNION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46320" y="365760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846320" y="3657600"/>
            <a:ext cx="10972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029200" y="3657600"/>
            <a:ext cx="502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8973A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577840" y="37490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Database Objects &amp; 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577840" y="4133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Views, Stored Procedures, Indexes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✦  CASE STUDY:  Member-Reported Fee Error Investigation — End-to-End SQL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Foundations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SELECT · WHERE · ORDER BY · AND / OR / NOT · DISTINCT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11480" y="1005840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1480" y="1005840"/>
            <a:ext cx="91440" cy="530352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94360" y="1042416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4360" y="12618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Pull specific columns from a 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11480" y="1618488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11480" y="1618488"/>
            <a:ext cx="91440" cy="530352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94360" y="16550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DISTINCT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94360" y="18745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Return only unique values — remove duplicates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1480" y="2231136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2231136"/>
            <a:ext cx="91440" cy="530352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94360" y="226771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4360" y="248716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Filter rows that match a condition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2843784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11480" y="2843784"/>
            <a:ext cx="91440" cy="530352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94360" y="28803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94360" y="309981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Sort results ascending (ASC) or descending (DESC)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11480" y="3456432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11480" y="3456432"/>
            <a:ext cx="91440" cy="530352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94360" y="34930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AND / OR / NOT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94360" y="37124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Combine multiple conditions in a WHERE clause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0" y="1005840"/>
            <a:ext cx="4206240" cy="3200400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617720" y="102412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EXAMPLE QUERY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 DISTINCT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63440" y="16550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  member_id,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663440" y="198424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  full_name,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663440" y="2313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  account_type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663440" y="264261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63440" y="29718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status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'active'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63440" y="330098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AND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account_type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'checking'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63440" y="36301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full_name </a:t>
            </a: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ASC;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SELECT DISTINCT on member_id to instantly spot duplicate account setups or members registered across multiple product lines during an audit.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Filtering &amp; Pattern Matching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LIKE · Wildcards · IN · BETWEEN · NULL Values · IS NULL / IS NOT NULL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11480" y="1005840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11480" y="1005840"/>
            <a:ext cx="91440" cy="530352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94360" y="10424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LIKE / Wildcards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94360" y="12618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Match partial text: '%fee%' or 'ERR_' patterns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11480" y="1618488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11480" y="1618488"/>
            <a:ext cx="91440" cy="530352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94360" y="16550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94360" y="18745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Match against a list of values: IN ('A','B','C')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11480" y="2231136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11480" y="2231136"/>
            <a:ext cx="91440" cy="530352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94360" y="22677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BETWEEN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94360" y="248716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Filter a range — dates, amounts, IDs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11480" y="2843784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11480" y="2843784"/>
            <a:ext cx="91440" cy="530352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94360" y="2880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IS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94360" y="309981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Find rows with no value — missing data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11480" y="3456432"/>
            <a:ext cx="3977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11480" y="3456432"/>
            <a:ext cx="91440" cy="530352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94360" y="34930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IS NOT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94360" y="37124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Confirm required fields are populated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0" y="1005840"/>
            <a:ext cx="4206240" cy="3200400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617720" y="102412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FIND MISSING &amp; ANOMALOUS 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663440" y="132588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onsolas"/>
                <a:ea typeface="Consolas"/>
                <a:cs typeface="Consolas"/>
                <a:sym typeface="Consolas"/>
              </a:rPr>
              <a:t>-- Find members with no email on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663440" y="165049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member_id, full_name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663440" y="197510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663440" y="229971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email_address </a:t>
            </a: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IS NULL;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663440" y="262432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663440" y="294894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onsolas"/>
                <a:ea typeface="Consolas"/>
                <a:cs typeface="Consolas"/>
                <a:sym typeface="Consolas"/>
              </a:rPr>
              <a:t>-- Fees posted in a suspicious range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663440" y="327355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transactions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663440" y="359816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10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fee_amount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663440" y="392277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BETWEEN</a:t>
            </a: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500 </a:t>
            </a:r>
            <a:r>
              <a:rPr b="0" i="0" lang="en-US" sz="10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5000;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 NULL is the #1 tool for data quality audits. Flag NULL phone numbers, missing fee codes, or unclassified transactions before they surface as member complaints.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Aggregate Functions &amp; Grouping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COUNT · SUM · AVG · MIN · MAX · GROUP BY · HAVING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11480" y="102412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11480" y="102412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21208" y="102412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COUNT()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21208" y="13898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How many records match?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02920" y="186537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48640" y="18653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COUNT(*) — count all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00400" y="102412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200400" y="102412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3310128" y="102412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SUM()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310128" y="13898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Total value of a numeric column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291840" y="186537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3337560" y="18653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SUM(fee_amount)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989320" y="253288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989320" y="253288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099048" y="253288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AVG()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099048" y="28986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Average — spot unusual deviations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080760" y="337413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126480" y="337413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AVG(transaction_amt)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11480" y="253288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11480" y="253288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21208" y="253288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MIN() / MAX()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21208" y="28986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Find the smallest or largest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02920" y="337413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548640" y="337413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MIN(posted_date)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200400" y="404164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3200400" y="404164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310128" y="404164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310128" y="4407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Summarize data by category or member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291840" y="488289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337560" y="488289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GROUP BY account_type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989320" y="4041648"/>
            <a:ext cx="26060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989320" y="4041648"/>
            <a:ext cx="2606040" cy="329184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099048" y="404164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099048" y="4407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Filter groups (like WHERE for aggregates)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080760" y="4882896"/>
            <a:ext cx="2423160" cy="347472"/>
          </a:xfrm>
          <a:prstGeom prst="rect">
            <a:avLst/>
          </a:prstGeom>
          <a:solidFill>
            <a:srgbClr val="F0EDE6"/>
          </a:solidFill>
          <a:ln cap="flat" cmpd="sng" w="12700">
            <a:solidFill>
              <a:srgbClr val="E0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126480" y="488289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HAVING COUNT(*) &gt;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GROUP BY member_id + HAVING COUNT(*) &gt; 1 on a fee table instantly surfaces members who were charged the same fee multiple times in a billing cycle — a key signal for duplicate posting errors.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JOINs — Combining Tables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INNER JOIN · LEFT JOIN · RIGHT JOIN · FULL OUTER JOIN · Self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1480" y="1024128"/>
            <a:ext cx="8321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11480" y="1024128"/>
            <a:ext cx="109728" cy="86868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94360" y="1133856"/>
            <a:ext cx="2011680" cy="29260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94360" y="113385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INNER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0" y="10972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Only rows that match in both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760720" y="10789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BA: Match transactions to fee schedules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2743200" y="1499616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B6355"/>
                </a:solidFill>
                <a:latin typeface="Consolas"/>
                <a:ea typeface="Consolas"/>
                <a:cs typeface="Consolas"/>
                <a:sym typeface="Consolas"/>
              </a:rPr>
              <a:t>e.g: transactions t LEFT JOIN fee_schedule f ON t.fee_code = f.code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11480" y="2011680"/>
            <a:ext cx="8321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11480" y="2011680"/>
            <a:ext cx="109728" cy="86868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594360" y="2121408"/>
            <a:ext cx="2011680" cy="29260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594360" y="21214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LEFT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743200" y="2084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left rows + matching right (NULLs where no match)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760720" y="2066544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BA: Find members with NO transactions on 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743200" y="248716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B6355"/>
                </a:solidFill>
                <a:latin typeface="Consolas"/>
                <a:ea typeface="Consolas"/>
                <a:cs typeface="Consolas"/>
                <a:sym typeface="Consolas"/>
              </a:rPr>
              <a:t>e.g: transactions t LEFT JOIN fee_schedule f ON t.fee_code = f.code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1480" y="2999232"/>
            <a:ext cx="8321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11480" y="2999232"/>
            <a:ext cx="109728" cy="868680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94360" y="3108960"/>
            <a:ext cx="2011680" cy="292608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94360" y="310896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RIGHT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743200" y="307238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right rows + matching left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760720" y="305409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BA: Find all fee codes, even unused 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743200" y="3474720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B6355"/>
                </a:solidFill>
                <a:latin typeface="Consolas"/>
                <a:ea typeface="Consolas"/>
                <a:cs typeface="Consolas"/>
                <a:sym typeface="Consolas"/>
              </a:rPr>
              <a:t>e.g: transactions t LEFT JOIN fee_schedule f ON t.fee_code = f.code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11480" y="3986784"/>
            <a:ext cx="8321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11480" y="3986784"/>
            <a:ext cx="109728" cy="868680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94360" y="4096512"/>
            <a:ext cx="2011680" cy="292608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594360" y="40965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FULL OUTER JOIN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2743200" y="4059936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rows from both — NULLs on both sides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760720" y="404164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BA: Full reconciliation between two systems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743200" y="4462272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6B6355"/>
                </a:solidFill>
                <a:latin typeface="Consolas"/>
                <a:ea typeface="Consolas"/>
                <a:cs typeface="Consolas"/>
                <a:sym typeface="Consolas"/>
              </a:rPr>
              <a:t>e.g: transactions t LEFT JOIN fee_schedule f ON t.fee_code = f.code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LEFT JOIN is the BA's best friend for reconciliation — attach it to any 'source of truth' table and every NULL in the right side is a gap you need to investigate and report.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Subqueries &amp; Advanced Logic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Subqueries · EXISTS · CASE · UNION · GROUP BY + HAVING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11480" y="1005840"/>
            <a:ext cx="3977640" cy="3200400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57200" y="10241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CASE STATEMENT — CLASSIFY FEES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02920" y="13258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member_id,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0292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fee_amount,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02920" y="18928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CASE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02920" y="21762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  WHEN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fee_amount = </a:t>
            </a:r>
            <a:r>
              <a:rPr b="0" i="0" lang="en-US" sz="9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02920" y="24597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    THEN</a:t>
            </a:r>
            <a:r>
              <a:rPr b="0" i="0" lang="en-US" sz="9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'Waived'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02920" y="2743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  WHEN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fee_amount &lt; </a:t>
            </a:r>
            <a:r>
              <a:rPr b="0" i="0" lang="en-US" sz="9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02920" y="3026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    THEN</a:t>
            </a:r>
            <a:r>
              <a:rPr b="0" i="0" lang="en-US" sz="9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'Standard'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02920" y="33101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r>
              <a:rPr b="0" i="0" lang="en-US" sz="950" u="none" cap="none" strike="noStrike">
                <a:solidFill>
                  <a:srgbClr val="F48FB1"/>
                </a:solidFill>
                <a:latin typeface="Consolas"/>
                <a:ea typeface="Consolas"/>
                <a:cs typeface="Consolas"/>
                <a:sym typeface="Consolas"/>
              </a:rPr>
              <a:t> 'Review'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02920" y="3593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END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AS fee_category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02920" y="38770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transactions;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0" y="1024128"/>
            <a:ext cx="42062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572000" y="1024128"/>
            <a:ext cx="91440" cy="86868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736592" y="1078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Subquery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736592" y="137160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A query nested inside another — use in WHERE or FROM to dynamically filter results based on another table.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572000" y="2029968"/>
            <a:ext cx="42062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572000" y="2029968"/>
            <a:ext cx="91440" cy="86868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736592" y="20848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EXISTS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736592" y="237744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Returns TRUE if a subquery finds any matching row. Faster than IN for large datasets.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572000" y="3035808"/>
            <a:ext cx="42062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572000" y="3035808"/>
            <a:ext cx="91440" cy="86868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736592" y="30906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UNION / UNION 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736592" y="338328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Stack results from two queries. Use UNION to remove duplicates; UNION ALL to keep all rows.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72000" y="4041648"/>
            <a:ext cx="42062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572000" y="4041648"/>
            <a:ext cx="91440" cy="86868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736592" y="40965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736592" y="438912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If/else logic inside SQL. Classify, label, or bucket data without leaving the query.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CASE is invaluable for quickly bucketing fees, transaction types, or error codes into plain-English categories — perfect for executive summaries and root-cause analysis reports.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57200" y="45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MODULE 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Database Objects &amp; Best Practices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57200" y="777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Views · Stored Procedures · Indexes · SQL Injection ·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11480" y="1024128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411480" y="1024128"/>
            <a:ext cx="4114800" cy="38404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548640" y="10241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👁  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146304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A saved, reusable SELECT query. Share a standardized view of data with stakeholders — no SQL knowledge required on their 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754880" y="1024128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754880" y="1024128"/>
            <a:ext cx="4114800" cy="384048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892040" y="10241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⚙  Stored Procedures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892040" y="146304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Pre-compiled SQL logic stored in the database. Run complex multi-step investigations with a single EXEC command.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11480" y="2624328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11480" y="2624328"/>
            <a:ext cx="4114800" cy="38404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548640" y="26243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⚡  Indexes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Speed up queries on large tables. Essential when running audits or reports on million-row transaction histories.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754880" y="2624328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754880" y="2624328"/>
            <a:ext cx="4114800" cy="384048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892040" y="26243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🔒  Constraints &amp; Safety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92040" y="306324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PRIMARY KEY, NOT NULL, UNIQUE and FOREIGN KEY constraints prevent bad data from entering the system in the first place.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Create a View for your most-used audit queries (e.g., active members with recent fee postings). Share it with ops teams who can run it without writing a single line of SQL.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57200" y="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Member-Reported Fee Error Investigation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57200" y="1143000"/>
            <a:ext cx="8229600" cy="1417320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40080" y="1188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40080" y="1481328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A member calls in and reports they were charged a $35 monthly maintenance fee they believe is an error. They state their account type (Premium Checking) should be fee-waived. As the BA on the operations team, you need to investigate using SQL — pull the data, verify the fee schedule, find the root cause, and document your findings.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57200" y="2724912"/>
            <a:ext cx="1920240" cy="566928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457200" y="27249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57200" y="2907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Locate the Member Record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514600" y="2724912"/>
            <a:ext cx="1920240" cy="566928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2514600" y="27249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514600" y="2907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All Fee Transactions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572000" y="2724912"/>
            <a:ext cx="1920240" cy="566928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4572000" y="27249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572000" y="2907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 to the Fee Schedule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629400" y="2724912"/>
            <a:ext cx="1920240" cy="566928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629400" y="27249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629400" y="2907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the Error &amp; Root Cause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Each step on the following slides includes the exact SQL query a BA would write.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57200" y="3840480"/>
            <a:ext cx="8229600" cy="1143000"/>
          </a:xfrm>
          <a:prstGeom prst="rect">
            <a:avLst/>
          </a:prstGeom>
          <a:solidFill>
            <a:srgbClr val="2433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640080" y="386791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SQL CONCEPTS APPLIED IN THIS CASE STUDY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40080" y="4187952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64008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SELECT / WHERE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2651760" y="4187952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265176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IS NULL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663440" y="4187952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466344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JOIN / LEFT JOIN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675120" y="4187952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667512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GROUP BY + HAVING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40080" y="4535424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640080" y="4535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BETWEEN (date range)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2651760" y="4535424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2651760" y="4535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CASE statement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663440" y="4535424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663440" y="4535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Aggregate Functions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675120" y="4535424"/>
            <a:ext cx="1828800" cy="27432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3A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6675120" y="4535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Subquery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CASE STUDY  •  STEPS 1 &amp;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Locate the Member &amp; Pull Fee Transactions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11480" y="987552"/>
            <a:ext cx="320040" cy="3200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11480" y="9875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229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Locate the Member Record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822960" y="128016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Confirm the member exists, pull their account type, and verify status.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11480" y="1536192"/>
            <a:ext cx="3886200" cy="1261872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member_id, full_name,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48640" y="18653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     account_type,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48640" y="21579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9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member_id = </a:t>
            </a:r>
            <a:r>
              <a:rPr b="0" i="0" lang="en-US" sz="9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'MBR-00471';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" name="Google Shape;375;p10"/>
          <p:cNvGraphicFramePr/>
          <p:nvPr/>
        </p:nvGraphicFramePr>
        <p:xfrm>
          <a:off x="41148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{5D1D8431-F489-4EF2-A0D0-525C25C85F7D}</a:tableStyleId>
              </a:tblPr>
              <a:tblGrid>
                <a:gridCol w="982975"/>
                <a:gridCol w="982975"/>
                <a:gridCol w="982975"/>
                <a:gridCol w="98297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member_id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full_name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account_type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status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MBR-00471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Sarah Chen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A527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Premium Checking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C"/>
                        </a:buClr>
                        <a:buSzPts val="800"/>
                        <a:buFont typeface="Consola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1A7A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active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p10"/>
          <p:cNvSpPr/>
          <p:nvPr/>
        </p:nvSpPr>
        <p:spPr>
          <a:xfrm>
            <a:off x="4754880" y="987552"/>
            <a:ext cx="320040" cy="3200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754880" y="9875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1663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Pull All Fee 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166360" y="1280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Find every fee posted to this member in the last 3 months.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754880" y="1536192"/>
            <a:ext cx="3977640" cy="1261872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4864608" y="1572768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txn_id, fee_code, fee_amount,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864608" y="1773936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     posted_date, description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864608" y="1975104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transactions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864608" y="2176272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member_id = </a:t>
            </a:r>
            <a:r>
              <a:rPr b="0" i="0" lang="en-US" sz="8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'MBR-00471'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864608" y="2377440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AND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txn_type = </a:t>
            </a:r>
            <a:r>
              <a:rPr b="0" i="0" lang="en-US" sz="8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'FEE'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864608" y="2578608"/>
            <a:ext cx="3749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AND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posted_date &gt;= </a:t>
            </a:r>
            <a:r>
              <a:rPr b="0" i="0" lang="en-US" sz="8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'2025-10-01';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" name="Google Shape;387;p10"/>
          <p:cNvGraphicFramePr/>
          <p:nvPr/>
        </p:nvGraphicFramePr>
        <p:xfrm>
          <a:off x="475488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{5D1D8431-F489-4EF2-A0D0-525C25C85F7D}</a:tableStyleId>
              </a:tblPr>
              <a:tblGrid>
                <a:gridCol w="994400"/>
                <a:gridCol w="994400"/>
                <a:gridCol w="994400"/>
                <a:gridCol w="994400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txn_id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fee_code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fee_amount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posted_date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TXN-9901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451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545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MAINT-MON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451B"/>
                        </a:buClr>
                        <a:buSzPts val="750"/>
                        <a:buFont typeface="Consolas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545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$35.00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2025-12-01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TXN-9902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WIRE-OUT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$15.00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Consolas"/>
                        <a:buNone/>
                      </a:pPr>
                      <a:r>
                        <a:rPr lang="en-US" sz="75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2025-12-10</a:t>
                      </a:r>
                      <a:endParaRPr sz="7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8" name="Google Shape;388;p10"/>
          <p:cNvSpPr/>
          <p:nvPr/>
        </p:nvSpPr>
        <p:spPr>
          <a:xfrm>
            <a:off x="4754880" y="365760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⚠  MAINT-MON fee flagged for review — $35.00 posted to a Premium account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Always filter by txn_type = 'FEE' first — transaction tables often contain thousands of rows. Narrow before you join. This keeps queries fast and results readable.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CASE STUDY  •  STEPS 3 &amp;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Verify the Fee Schedule &amp; Identify the Error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11480" y="987552"/>
            <a:ext cx="320040" cy="3200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411480" y="9875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8229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Join to the Fee Schedule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822960" y="128016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LEFT JOIN the fee schedule to see what this account type should be charged.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11480" y="1536192"/>
            <a:ext cx="3886200" cy="1691640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48640" y="157276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t.txn_id, t.fee_code,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" y="175564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t.fee_amount AS charged,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48640" y="193852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f.fee_amount AS scheduled,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48640" y="212140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f.applies_to_account_type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48640" y="230428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transactions 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48640" y="248716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LEFT JOIN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fee_schedule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48640" y="267004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ON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t.fee_code = f.fee_code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548640" y="285292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t.member_id = </a:t>
            </a:r>
            <a:r>
              <a:rPr b="0" i="0" lang="en-US" sz="8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'MBR-00471'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48640" y="3035808"/>
            <a:ext cx="36576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  AND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t.txn_type = </a:t>
            </a:r>
            <a:r>
              <a:rPr b="0" i="0" lang="en-US" sz="8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'FEE';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11"/>
          <p:cNvGraphicFramePr/>
          <p:nvPr/>
        </p:nvGraphicFramePr>
        <p:xfrm>
          <a:off x="411480" y="3273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{5D1D8431-F489-4EF2-A0D0-525C25C85F7D}</a:tableStyleId>
              </a:tblPr>
              <a:tblGrid>
                <a:gridCol w="982975"/>
                <a:gridCol w="982975"/>
                <a:gridCol w="982975"/>
                <a:gridCol w="9829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fee_code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charged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scheduled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B84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E8B84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applies_to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451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545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MAINT-MON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451B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545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$35.00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C"/>
                        </a:buClr>
                        <a:buSzPts val="700"/>
                        <a:buFont typeface="Consolas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1A7A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$0.00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276"/>
                        </a:buClr>
                        <a:buSzPts val="700"/>
                        <a:buFont typeface="Consolas"/>
                        <a:buNone/>
                      </a:pPr>
                      <a:r>
                        <a:rPr lang="en-US" sz="700" u="none" cap="none" strike="noStrike">
                          <a:solidFill>
                            <a:srgbClr val="1A527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Premium Checking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00"/>
                        <a:buFont typeface="Consolas"/>
                        <a:buNone/>
                      </a:pPr>
                      <a:r>
                        <a:rPr lang="en-US" sz="7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WIRE-OUT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00"/>
                        <a:buFont typeface="Consolas"/>
                        <a:buNone/>
                      </a:pPr>
                      <a:r>
                        <a:rPr lang="en-US" sz="7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$15.00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00"/>
                        <a:buFont typeface="Consolas"/>
                        <a:buNone/>
                      </a:pPr>
                      <a:r>
                        <a:rPr lang="en-US" sz="7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$15.00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00"/>
                        <a:buFont typeface="Consolas"/>
                        <a:buNone/>
                      </a:pPr>
                      <a:r>
                        <a:rPr lang="en-US" sz="700" u="none" cap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 Types</a:t>
                      </a:r>
                      <a:endParaRPr sz="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6" name="Google Shape;416;p11"/>
          <p:cNvSpPr/>
          <p:nvPr/>
        </p:nvSpPr>
        <p:spPr>
          <a:xfrm>
            <a:off x="4754880" y="987552"/>
            <a:ext cx="320040" cy="320040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4754880" y="9875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1663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Identify the Error &amp; Root Cause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166360" y="1280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3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355"/>
                </a:solidFill>
                <a:latin typeface="Calibri"/>
                <a:ea typeface="Calibri"/>
                <a:cs typeface="Calibri"/>
                <a:sym typeface="Calibri"/>
              </a:rPr>
              <a:t>Query that definitively surfaces the discrepancy.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4754880" y="1536192"/>
            <a:ext cx="3977640" cy="1691640"/>
          </a:xfrm>
          <a:prstGeom prst="rect">
            <a:avLst/>
          </a:prstGeom>
          <a:solidFill>
            <a:srgbClr val="1A1E2E"/>
          </a:solidFill>
          <a:ln cap="flat" cmpd="sng" w="12700">
            <a:solidFill>
              <a:srgbClr val="2A2E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4864608" y="157276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46E7A"/>
                </a:solidFill>
                <a:latin typeface="Consolas"/>
                <a:ea typeface="Consolas"/>
                <a:cs typeface="Consolas"/>
                <a:sym typeface="Consolas"/>
              </a:rPr>
              <a:t>-- Flag where charged ≠ scheduled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864608" y="175564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t.txn_id, m.account_type,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864608" y="193852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t.fee_code, t.fee_amount AS charged,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4864608" y="212140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B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 f.fee_amount AS expected,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4864608" y="230428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FB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48FB1"/>
                </a:solidFill>
                <a:latin typeface="Consolas"/>
                <a:ea typeface="Consolas"/>
                <a:cs typeface="Consolas"/>
                <a:sym typeface="Consolas"/>
              </a:rPr>
              <a:t>  (t.fee_amount - f.fee_amount) AS overcharge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864608" y="248716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transactions 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4864608" y="267004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members m </a:t>
            </a: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t.member_id = m.member_id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4864608" y="285292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fee_schedule f </a:t>
            </a: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t.fee_code = f.fee_code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864608" y="3035808"/>
            <a:ext cx="3749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B1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2B1FF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850" u="none" cap="none" strike="noStrike">
                <a:solidFill>
                  <a:srgbClr val="A8D8B9"/>
                </a:solidFill>
                <a:latin typeface="Consolas"/>
                <a:ea typeface="Consolas"/>
                <a:cs typeface="Consolas"/>
                <a:sym typeface="Consolas"/>
              </a:rPr>
              <a:t> t.fee_amount &gt; f.fee_amount;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754880" y="3273552"/>
            <a:ext cx="3977640" cy="749808"/>
          </a:xfrm>
          <a:prstGeom prst="rect">
            <a:avLst/>
          </a:prstGeom>
          <a:solidFill>
            <a:srgbClr val="FFF0E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754880" y="3273552"/>
            <a:ext cx="109728" cy="749808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4937760" y="33101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937760" y="3520440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Member MBR-00471 (Premium Checking) was charged $35.00 for fee code MAINT-MON. The fee schedule shows $0.00 for this account type. Overcharge: $35.00. Error confirmed — pending reversal and process review.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411480" y="4343400"/>
            <a:ext cx="109728" cy="65836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594360" y="43708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5451B"/>
                </a:solidFill>
                <a:latin typeface="Calibri"/>
                <a:ea typeface="Calibri"/>
                <a:cs typeface="Calibri"/>
                <a:sym typeface="Calibri"/>
              </a:rPr>
              <a:t>BA APPLICATION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94360" y="455371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overcharge column (charged − expected) does the math automatically. Export this query's results to Excel, and you have a ready-made evidence log for the member correction and the process team.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Key Takeaways for Business Analysts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1480" y="1005840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411480" y="1005840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612648" y="104241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612648" y="12801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is a BA Superpower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12648" y="15727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You don't need to be a developer. A working knowledge of SELECT, WHERE, JOIN, and GROUP BY covers 80% of investigation and reporting scenarios.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754880" y="1005840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4754880" y="1005840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956048" y="104241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956048" y="12801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NULL Values = Missing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956048" y="15727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IS NULL is your first line of defense in any data quality audit. Fields that should never be empty are the first place errors hide.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411480" y="2359152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411480" y="2359152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612648" y="23957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12648" y="26334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JOINs Reveal the Full Picture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612648" y="292608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Most business problems live across two or more tables. Mastering LEFT JOIN lets you find the gaps — the records that don't match, the fees that shouldn't exist.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754880" y="2359152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754880" y="2359152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956048" y="23957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4956048" y="26334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Document Your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4956048" y="292608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Add comments (--) to every investigation query. When an auditor or manager asks how you found the issue, your SQL is your audit trail.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411480" y="3712464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411480" y="3712464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612648" y="3749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612648" y="3986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 Reusable 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12648" y="427939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Once you have a working investigation query, save it as a View. Share it with your team so anyone can run the same check without writing new SQL.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754880" y="3712464"/>
            <a:ext cx="4114800" cy="1207008"/>
          </a:xfrm>
          <a:prstGeom prst="rect">
            <a:avLst/>
          </a:prstGeom>
          <a:solidFill>
            <a:srgbClr val="1E2F52"/>
          </a:solidFill>
          <a:ln cap="flat" cmpd="sng" w="12700">
            <a:solidFill>
              <a:srgbClr val="2E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754880" y="3712464"/>
            <a:ext cx="109728" cy="1207008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956048" y="3749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4956048" y="3986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Quantify Your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956048" y="427939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SUM(overcharge) tells leadership the financial impact. COUNT(*) of affected members tells them the scale. SQL turns data into a business case.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Source: W3Schools SQL Syllabus  •  w3schools.com/sql/SQL_syllabus.asp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2026-03-24T21:24:57Z</dcterms:created>
  <dc:creator>Business Analyst</dc:creator>
</cp:coreProperties>
</file>