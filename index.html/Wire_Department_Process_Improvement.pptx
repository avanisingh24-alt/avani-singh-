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OiQ2eIgUlejrRhdxQpUnmOIVf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 %</c:v>
                </c:pt>
              </c:strCache>
            </c:strRef>
          </c:tx>
          <c:spPr>
            <a:solidFill>
              <a:srgbClr val="0066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6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F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F8C8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Data Entry</c:v>
                  </c:pt>
                  <c:pt idx="1">
                    <c:v>Missing Docs</c:v>
                  </c:pt>
                  <c:pt idx="2">
                    <c:v>Compliance Hold</c:v>
                  </c:pt>
                  <c:pt idx="3">
                    <c:v>Duplicate Wire</c:v>
                  </c:pt>
                  <c:pt idx="4">
                    <c:v>System Timeout</c:v>
                  </c:pt>
                  <c:pt idx="5">
                    <c:v>Other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22</c:v>
                </c:pt>
                <c:pt idx="2">
                  <c:v>17</c:v>
                </c:pt>
                <c:pt idx="3">
                  <c:v>11</c:v>
                </c:pt>
                <c:pt idx="4">
                  <c:v>8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6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522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217920" y="274320"/>
            <a:ext cx="2011680" cy="2011680"/>
          </a:xfrm>
          <a:prstGeom prst="ellipse">
            <a:avLst/>
          </a:prstGeom>
          <a:solidFill>
            <a:srgbClr val="0066CC">
              <a:alpha val="45098"/>
            </a:srgbClr>
          </a:solidFill>
          <a:ln cap="flat" cmpd="sng" w="12700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858000" y="2560320"/>
            <a:ext cx="1280160" cy="1280160"/>
          </a:xfrm>
          <a:prstGeom prst="ellipse">
            <a:avLst/>
          </a:prstGeom>
          <a:solidFill>
            <a:srgbClr val="F0C040">
              <a:alpha val="34901"/>
            </a:srgbClr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48640" y="914400"/>
            <a:ext cx="2286000" cy="29260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48640" y="91440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LEAN SIX SIGMA  |  DMAIC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141732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Wire Department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2148840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Process Improvement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548640" y="2944368"/>
            <a:ext cx="41148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/>
          <p:nvPr/>
        </p:nvSpPr>
        <p:spPr>
          <a:xfrm>
            <a:off x="548640" y="3090672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8F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8D8F8"/>
                </a:solidFill>
                <a:latin typeface="Calibri"/>
                <a:ea typeface="Calibri"/>
                <a:cs typeface="Calibri"/>
                <a:sym typeface="Calibri"/>
              </a:rPr>
              <a:t>Reducing Processing Errors, Cycle Time &amp; Operational Cost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8D8F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8D8F8"/>
                </a:solidFill>
                <a:latin typeface="Calibri"/>
                <a:ea typeface="Calibri"/>
                <a:cs typeface="Calibri"/>
                <a:sym typeface="Calibri"/>
              </a:rPr>
              <a:t>Through Structured Process Excellence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48640" y="416052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Prepared by: Business Analyst — Operations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Date: Q1 202</a:t>
            </a:r>
            <a:r>
              <a:rPr lang="en-US" sz="950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b="0" i="0" lang="en-US" sz="95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 |  Version: 1.0  |  </a:t>
            </a:r>
            <a:r>
              <a:rPr lang="en-US" sz="950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Process Improvement Proposal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303520" y="9144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Project Highlights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303520" y="1417320"/>
            <a:ext cx="3474720" cy="713232"/>
          </a:xfrm>
          <a:prstGeom prst="rect">
            <a:avLst/>
          </a:prstGeom>
          <a:solidFill>
            <a:srgbClr val="0066CC">
              <a:alpha val="25098"/>
            </a:srgbClr>
          </a:solidFill>
          <a:ln cap="flat" cmpd="sng" w="12700">
            <a:solidFill>
              <a:srgbClr val="0066C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303520" y="146304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45%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263640" y="1463040"/>
            <a:ext cx="2468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Cycle Time Reduction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303520" y="2286000"/>
            <a:ext cx="3474720" cy="713232"/>
          </a:xfrm>
          <a:prstGeom prst="rect">
            <a:avLst/>
          </a:prstGeom>
          <a:solidFill>
            <a:srgbClr val="0066CC">
              <a:alpha val="25098"/>
            </a:srgbClr>
          </a:solidFill>
          <a:ln cap="flat" cmpd="sng" w="12700">
            <a:solidFill>
              <a:srgbClr val="0066C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5303520" y="233172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62%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263640" y="2331720"/>
            <a:ext cx="2468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 Rate Decrease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303520" y="3154680"/>
            <a:ext cx="3474720" cy="713232"/>
          </a:xfrm>
          <a:prstGeom prst="rect">
            <a:avLst/>
          </a:prstGeom>
          <a:solidFill>
            <a:srgbClr val="0066CC">
              <a:alpha val="25098"/>
            </a:srgbClr>
          </a:solidFill>
          <a:ln cap="flat" cmpd="sng" w="12700">
            <a:solidFill>
              <a:srgbClr val="0066C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5303520" y="320040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$340K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263640" y="3200400"/>
            <a:ext cx="2468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Annual Cost Savings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303520" y="4023360"/>
            <a:ext cx="3474720" cy="713232"/>
          </a:xfrm>
          <a:prstGeom prst="rect">
            <a:avLst/>
          </a:prstGeom>
          <a:solidFill>
            <a:srgbClr val="0066CC">
              <a:alpha val="25098"/>
            </a:srgbClr>
          </a:solidFill>
          <a:ln cap="flat" cmpd="sng" w="12700">
            <a:solidFill>
              <a:srgbClr val="0066C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5303520" y="406908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55%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6263640" y="4069080"/>
            <a:ext cx="2468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Complaints Reduced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57200" y="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Business Case &amp; Opportunity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65760" y="914400"/>
            <a:ext cx="393192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65760" y="914400"/>
            <a:ext cx="393192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365760" y="91440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94360" y="1444752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868680" y="138988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Wire transactions averaging 24 min end-to-end — 3× industry benchmark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94360" y="2020824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868680" y="196596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3.2% error/rework rate causing compliance risk and customer friction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94360" y="2596896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68680" y="2542032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Manual verification steps creating bottlenecks during peak volume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94360" y="3172968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868680" y="3118104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Lack of standardized operating procedures across shift teams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94360" y="3749040"/>
            <a:ext cx="164592" cy="16459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68680" y="3694176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real-time visibility into queue status or exception backlog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846320" y="914400"/>
            <a:ext cx="393192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846320" y="914400"/>
            <a:ext cx="3931920" cy="347472"/>
          </a:xfrm>
          <a:prstGeom prst="rect">
            <a:avLst/>
          </a:prstGeom>
          <a:solidFill>
            <a:srgbClr val="1A7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846320" y="91440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OPPORTUNITY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074920" y="1444752"/>
            <a:ext cx="164592" cy="164592"/>
          </a:xfrm>
          <a:prstGeom prst="ellipse">
            <a:avLst/>
          </a:prstGeom>
          <a:solidFill>
            <a:srgbClr val="1A7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5349240" y="138988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Streamline end-to-end processing to under 14 minutes per wire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074920" y="2020824"/>
            <a:ext cx="164592" cy="164592"/>
          </a:xfrm>
          <a:prstGeom prst="ellipse">
            <a:avLst/>
          </a:prstGeom>
          <a:solidFill>
            <a:srgbClr val="1A7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5349240" y="196596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Automate dual-control verification for low-risk transaction tiers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074920" y="2596896"/>
            <a:ext cx="164592" cy="164592"/>
          </a:xfrm>
          <a:prstGeom prst="ellipse">
            <a:avLst/>
          </a:prstGeom>
          <a:solidFill>
            <a:srgbClr val="1A7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5349240" y="2542032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Implement standardized SOPs with cross-shift accountability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074920" y="3172968"/>
            <a:ext cx="164592" cy="164592"/>
          </a:xfrm>
          <a:prstGeom prst="ellipse">
            <a:avLst/>
          </a:prstGeom>
          <a:solidFill>
            <a:srgbClr val="1A7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5349240" y="3118104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Deploy real-time monitoring dashboard for operations managers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074920" y="3749040"/>
            <a:ext cx="164592" cy="164592"/>
          </a:xfrm>
          <a:prstGeom prst="ellipse">
            <a:avLst/>
          </a:prstGeom>
          <a:solidFill>
            <a:srgbClr val="1A7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5349240" y="3694176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Reduce annual rework cost by ~$340K through error elimination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365760" y="4736592"/>
            <a:ext cx="8412480" cy="22860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457200" y="474573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SCOPE: Domestic &amp; International Wire Origination | Commercial Banking Division | 12-Month Improvement Horizon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6B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22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DMAIC PROJECT ROADMAP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Wire Department Process Improvement — Structured Framework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01168" y="1325880"/>
            <a:ext cx="1600200" cy="3429000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201168" y="1325880"/>
            <a:ext cx="160020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201168" y="132588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201168" y="1673352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Scope &amp; Charter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92608" y="2057400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C0392B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292608" y="205740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92608" y="2551176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C0392B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292608" y="2551176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VOC / CTQs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92608" y="3044952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C0392B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292608" y="3044952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Charter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92608" y="3538728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C0392B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292608" y="3538728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SIPOC Map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92608" y="4032504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C0392B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292608" y="4032504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Stakeholder Analysis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828800" y="2788920"/>
            <a:ext cx="118872" cy="2286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1975104" y="1325880"/>
            <a:ext cx="1600200" cy="3429000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1975104" y="1325880"/>
            <a:ext cx="160020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1975104" y="132588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975104" y="1673352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066544" y="2057400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E67E22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2066544" y="205740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 Mapping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066544" y="2551176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E67E22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2066544" y="2551176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Collection Plan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066544" y="3044952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E67E22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2066544" y="3044952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Sigma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066544" y="3538728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E67E22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2066544" y="3538728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Cycle Time Study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2066544" y="4032504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E67E22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2066544" y="4032504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Pareto Analysis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3602736" y="2788920"/>
            <a:ext cx="118872" cy="2286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3749040" y="1325880"/>
            <a:ext cx="1600200" cy="3429000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3749040" y="1325880"/>
            <a:ext cx="1600200" cy="59436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3749040" y="132588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3749040" y="1673352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 Causes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840480" y="2057400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F0C04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3840480" y="205740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Fishbone Diagram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3840480" y="2551176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F0C04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3840480" y="2551176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5-Why Analysis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3840480" y="3044952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F0C04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3840480" y="3044952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 Stream Map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3840480" y="3538728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F0C04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3840480" y="3538728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Regression Analysis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3840480" y="4032504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F0C04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3840480" y="4032504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Failure Mode Ranking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5376672" y="2788920"/>
            <a:ext cx="118872" cy="2286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5522976" y="1325880"/>
            <a:ext cx="1600200" cy="3429000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5522976" y="1325880"/>
            <a:ext cx="160020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5522976" y="132588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5522976" y="1673352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5614416" y="2057400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27AE6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5614416" y="205740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 Matrix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5614416" y="2551176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27AE6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5614416" y="2551176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Pilot Testing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5614416" y="3044952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27AE6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5614416" y="3044952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Automation Design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5614416" y="3538728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27AE6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5614416" y="3538728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SOP Development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5614416" y="4032504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27AE6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5614416" y="4032504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Change Management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7150608" y="2788920"/>
            <a:ext cx="118872" cy="2286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7296912" y="1325880"/>
            <a:ext cx="1600200" cy="3429000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7296912" y="1325880"/>
            <a:ext cx="1600200" cy="5943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7296912" y="132588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7296912" y="1673352"/>
            <a:ext cx="1600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Sustain Gains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7388352" y="2057400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2980B9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7388352" y="205740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Plan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7388352" y="2551176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2980B9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7388352" y="2551176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KPIs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7388352" y="3044952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2980B9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7388352" y="3044952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Response Plans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7388352" y="3538728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2980B9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7388352" y="3538728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 Program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7388352" y="4032504"/>
            <a:ext cx="1417320" cy="384048"/>
          </a:xfrm>
          <a:prstGeom prst="rect">
            <a:avLst/>
          </a:prstGeom>
          <a:solidFill>
            <a:srgbClr val="263D7A"/>
          </a:solidFill>
          <a:ln cap="flat" cmpd="sng" w="19050">
            <a:solidFill>
              <a:srgbClr val="2980B9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7388352" y="4032504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Benefit Realization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859536" y="4828032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92608" y="484632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C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Wk 1–2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2633472" y="4828032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2066544" y="484632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C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Wk 3–6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4407408" y="4828032"/>
            <a:ext cx="274320" cy="27432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3840480" y="484632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C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Wk 7–10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6181344" y="4828032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5614416" y="484632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C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Wk 11–16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7955280" y="4828032"/>
            <a:ext cx="274320" cy="27432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7388352" y="484632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C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Wk 17–20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0" y="0"/>
            <a:ext cx="548640" cy="731520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0" y="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685800" y="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DEFINE PHASE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685800" y="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B3A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B3AE"/>
                </a:solidFill>
                <a:latin typeface="Calibri"/>
                <a:ea typeface="Calibri"/>
                <a:cs typeface="Calibri"/>
                <a:sym typeface="Calibri"/>
              </a:rPr>
              <a:t>Problem Scoping &amp; Project Charter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365760" y="914400"/>
            <a:ext cx="8412480" cy="960120"/>
          </a:xfrm>
          <a:prstGeom prst="rect">
            <a:avLst/>
          </a:prstGeom>
          <a:solidFill>
            <a:srgbClr val="FFF5F5"/>
          </a:solidFill>
          <a:ln cap="flat" cmpd="sng" w="254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502920" y="978408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502920" y="1207008"/>
            <a:ext cx="8183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Wire Department is experiencing a documented error rate of ~3.2% and an average end-to-end processing time of 24 minutes — well above the 8-minute industry benchmark. This contributes to an estimated $340K in annual rework costs, elevated customer escalations, and increased regulatory risk. No structured process improvement initiative has been undertaken in the past 3 years.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365760" y="2029968"/>
            <a:ext cx="4023360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365760" y="2029968"/>
            <a:ext cx="4023360" cy="32004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365760" y="202996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 TO QUALITY (CTQs)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365760" y="2350008"/>
            <a:ext cx="402336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475488" y="235000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Processing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2423160" y="2350008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F5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7F5A"/>
                </a:solidFill>
                <a:latin typeface="Calibri"/>
                <a:ea typeface="Calibri"/>
                <a:cs typeface="Calibri"/>
                <a:sym typeface="Calibri"/>
              </a:rPr>
              <a:t>≤ 14 min avg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3364992" y="2350008"/>
            <a:ext cx="868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24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365760" y="2807208"/>
            <a:ext cx="40233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475488" y="280720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Error / Rework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2423160" y="2807208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F5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7F5A"/>
                </a:solidFill>
                <a:latin typeface="Calibri"/>
                <a:ea typeface="Calibri"/>
                <a:cs typeface="Calibri"/>
                <a:sym typeface="Calibri"/>
              </a:rPr>
              <a:t>&lt; 1.5%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3364992" y="2807208"/>
            <a:ext cx="868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3.2%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365760" y="3264408"/>
            <a:ext cx="402336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475488" y="326440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Same-Day Settlement 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2423160" y="3264408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F5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7F5A"/>
                </a:solidFill>
                <a:latin typeface="Calibri"/>
                <a:ea typeface="Calibri"/>
                <a:cs typeface="Calibri"/>
                <a:sym typeface="Calibri"/>
              </a:rPr>
              <a:t>&gt; 97%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3364992" y="3264408"/>
            <a:ext cx="868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89%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365760" y="3721608"/>
            <a:ext cx="40233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475488" y="372160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Compliance Exceptions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2423160" y="3721608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F5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7F5A"/>
                </a:solidFill>
                <a:latin typeface="Calibri"/>
                <a:ea typeface="Calibri"/>
                <a:cs typeface="Calibri"/>
                <a:sym typeface="Calibri"/>
              </a:rPr>
              <a:t>&lt; 0.5%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3364992" y="3721608"/>
            <a:ext cx="868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1.8%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365760" y="4178808"/>
            <a:ext cx="402336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475488" y="417880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Customer Escalations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2423160" y="4178808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F5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7F5A"/>
                </a:solidFill>
                <a:latin typeface="Calibri"/>
                <a:ea typeface="Calibri"/>
                <a:cs typeface="Calibri"/>
                <a:sym typeface="Calibri"/>
              </a:rPr>
              <a:t>&lt; 5/mo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3364992" y="4178808"/>
            <a:ext cx="868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~22/mo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475488" y="2194560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2423160" y="219456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3364992" y="2194560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4754880" y="2029968"/>
            <a:ext cx="4023360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4754880" y="2029968"/>
            <a:ext cx="4023360" cy="32004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"/>
          <p:cNvSpPr/>
          <p:nvPr/>
        </p:nvSpPr>
        <p:spPr>
          <a:xfrm>
            <a:off x="4754880" y="202996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SIPOC SUMMARY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4754880" y="2350008"/>
            <a:ext cx="402336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4"/>
          <p:cNvSpPr/>
          <p:nvPr/>
        </p:nvSpPr>
        <p:spPr>
          <a:xfrm>
            <a:off x="4846320" y="2350008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S — Suppliers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5989320" y="2350008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Commercial clients, Relationship Managers, Treasury Operations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4754880" y="2807208"/>
            <a:ext cx="40233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4846320" y="2807208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I — Inputs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5989320" y="2807208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Wire request form, Client ID, Beneficiary details, Compliance flag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4754880" y="3264408"/>
            <a:ext cx="402336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"/>
          <p:cNvSpPr/>
          <p:nvPr/>
        </p:nvSpPr>
        <p:spPr>
          <a:xfrm>
            <a:off x="4846320" y="3264408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P — Process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5989320" y="3264408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Initiate → Verify → Dual-Control Approve → Transmit → Confirm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4754880" y="3721608"/>
            <a:ext cx="40233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"/>
          <p:cNvSpPr/>
          <p:nvPr/>
        </p:nvSpPr>
        <p:spPr>
          <a:xfrm>
            <a:off x="4846320" y="3721608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O — Outputs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5989320" y="3721608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Settled wire, SWIFT confirmation, Audit log entry, Client notification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4754880" y="4178808"/>
            <a:ext cx="402336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"/>
          <p:cNvSpPr/>
          <p:nvPr/>
        </p:nvSpPr>
        <p:spPr>
          <a:xfrm>
            <a:off x="4846320" y="4178808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C — Customers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5989320" y="4178808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Corporate clients, Correspondent banks, Internal Treasury, Regulators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0" y="0"/>
            <a:ext cx="548640" cy="731520"/>
          </a:xfrm>
          <a:prstGeom prst="rect">
            <a:avLst/>
          </a:prstGeom>
          <a:solidFill>
            <a:srgbClr val="B961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0" y="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685800" y="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 PHASE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685800" y="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E0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E0B8"/>
                </a:solidFill>
                <a:latin typeface="Calibri"/>
                <a:ea typeface="Calibri"/>
                <a:cs typeface="Calibri"/>
                <a:sym typeface="Calibri"/>
              </a:rPr>
              <a:t>Baseline Process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320040" y="868680"/>
            <a:ext cx="192024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320040" y="868680"/>
            <a:ext cx="109728" cy="1143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502920" y="896112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1.52σ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502920" y="13716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Baseline Process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Sigma Level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502920" y="171907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Industry Avg: 3.4σ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2468880" y="868680"/>
            <a:ext cx="192024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2468880" y="868680"/>
            <a:ext cx="109728" cy="1143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2651760" y="896112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3.2%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2651760" y="13716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Defect 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(errors + rework)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2651760" y="171907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Target: &lt; 1.5%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4617720" y="868680"/>
            <a:ext cx="192024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4617720" y="868680"/>
            <a:ext cx="109728" cy="1143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4800600" y="896112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24 min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4800600" y="13716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Avg Cycle 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Per Transaction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4800600" y="171907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Target: ≤ 14 min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6766560" y="868680"/>
            <a:ext cx="192024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5"/>
          <p:cNvSpPr/>
          <p:nvPr/>
        </p:nvSpPr>
        <p:spPr>
          <a:xfrm>
            <a:off x="6766560" y="868680"/>
            <a:ext cx="109728" cy="1143000"/>
          </a:xfrm>
          <a:prstGeom prst="rect">
            <a:avLst/>
          </a:prstGeom>
          <a:solidFill>
            <a:srgbClr val="1A7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6949440" y="896112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F5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7F5A"/>
                </a:solidFill>
                <a:latin typeface="Calibri"/>
                <a:ea typeface="Calibri"/>
                <a:cs typeface="Calibri"/>
                <a:sym typeface="Calibri"/>
              </a:rPr>
              <a:t>89%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6949440" y="13716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Same-Day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Settlement 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6949440" y="171907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Target: &gt; 97%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320040" y="2176272"/>
            <a:ext cx="475488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457200" y="224028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Error Distribution by Category (% of Total Defects)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7" name="Google Shape;257;p5"/>
          <p:cNvGraphicFramePr/>
          <p:nvPr/>
        </p:nvGraphicFramePr>
        <p:xfrm>
          <a:off x="320040" y="2514600"/>
          <a:ext cx="4754880" cy="21488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58" name="Google Shape;258;p5"/>
          <p:cNvSpPr/>
          <p:nvPr/>
        </p:nvSpPr>
        <p:spPr>
          <a:xfrm>
            <a:off x="5257800" y="2176272"/>
            <a:ext cx="356616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5394960" y="2240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Process Performance Summary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5257800" y="2560320"/>
            <a:ext cx="3566160" cy="246888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5349240" y="2560320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Avg Daily Wire Volume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7178040" y="2560320"/>
            <a:ext cx="1554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~310 transactions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5257800" y="2807208"/>
            <a:ext cx="35661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5349240" y="2807208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Peak Hour Volume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7178040" y="2807208"/>
            <a:ext cx="1554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60–80 transactions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5257800" y="3054096"/>
            <a:ext cx="3566160" cy="246888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5349240" y="3054096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Avg Processing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7178040" y="3054096"/>
            <a:ext cx="1554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24 min (range: 8–62 min)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5257800" y="3300984"/>
            <a:ext cx="35661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5"/>
          <p:cNvSpPr/>
          <p:nvPr/>
        </p:nvSpPr>
        <p:spPr>
          <a:xfrm>
            <a:off x="5349240" y="3300984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Std Deviation — 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7178040" y="3300984"/>
            <a:ext cx="1554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±11.3 minutes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5257800" y="3547872"/>
            <a:ext cx="3566160" cy="246888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"/>
          <p:cNvSpPr/>
          <p:nvPr/>
        </p:nvSpPr>
        <p:spPr>
          <a:xfrm>
            <a:off x="5349240" y="3547872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DPMO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7178040" y="3547872"/>
            <a:ext cx="1554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32,000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5257800" y="3794760"/>
            <a:ext cx="35661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5"/>
          <p:cNvSpPr/>
          <p:nvPr/>
        </p:nvSpPr>
        <p:spPr>
          <a:xfrm>
            <a:off x="5349240" y="3794760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First Pass Yield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7178040" y="3794760"/>
            <a:ext cx="1554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96.8%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5257800" y="4041648"/>
            <a:ext cx="3566160" cy="246888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5"/>
          <p:cNvSpPr/>
          <p:nvPr/>
        </p:nvSpPr>
        <p:spPr>
          <a:xfrm>
            <a:off x="5349240" y="4041648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Rework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7178040" y="4041648"/>
            <a:ext cx="1554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3.2%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5257800" y="4288536"/>
            <a:ext cx="35661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5"/>
          <p:cNvSpPr/>
          <p:nvPr/>
        </p:nvSpPr>
        <p:spPr>
          <a:xfrm>
            <a:off x="5349240" y="4288536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Avg Rework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7178040" y="4288536"/>
            <a:ext cx="1554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38 min per incident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5257800" y="4535424"/>
            <a:ext cx="3566160" cy="246888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5"/>
          <p:cNvSpPr/>
          <p:nvPr/>
        </p:nvSpPr>
        <p:spPr>
          <a:xfrm>
            <a:off x="5349240" y="4535424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Monthly Rework Costs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5"/>
          <p:cNvSpPr/>
          <p:nvPr/>
        </p:nvSpPr>
        <p:spPr>
          <a:xfrm>
            <a:off x="7178040" y="4535424"/>
            <a:ext cx="1554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~$28,400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0" y="0"/>
            <a:ext cx="548640" cy="731520"/>
          </a:xfrm>
          <a:prstGeom prst="rect">
            <a:avLst/>
          </a:prstGeom>
          <a:solidFill>
            <a:srgbClr val="6B4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0" y="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685800" y="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 PHASE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685800" y="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E9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E97A"/>
                </a:solidFill>
                <a:latin typeface="Calibri"/>
                <a:ea typeface="Calibri"/>
                <a:cs typeface="Calibri"/>
                <a:sym typeface="Calibri"/>
              </a:rPr>
              <a:t>Root Cause Identification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7178150" y="1691700"/>
            <a:ext cx="1691700" cy="9696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7068301" y="2103121"/>
            <a:ext cx="18015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ERROR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LONG CYCLE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6"/>
          <p:cNvCxnSpPr/>
          <p:nvPr/>
        </p:nvCxnSpPr>
        <p:spPr>
          <a:xfrm>
            <a:off x="365760" y="2587752"/>
            <a:ext cx="6217920" cy="0"/>
          </a:xfrm>
          <a:prstGeom prst="straightConnector1">
            <a:avLst/>
          </a:prstGeom>
          <a:noFill/>
          <a:ln cap="flat" cmpd="sng" w="38100">
            <a:solidFill>
              <a:srgbClr val="1B2A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6"/>
          <p:cNvSpPr/>
          <p:nvPr/>
        </p:nvSpPr>
        <p:spPr>
          <a:xfrm>
            <a:off x="1005840" y="914400"/>
            <a:ext cx="1920240" cy="32004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6"/>
          <p:cNvSpPr/>
          <p:nvPr/>
        </p:nvSpPr>
        <p:spPr>
          <a:xfrm>
            <a:off x="1005840" y="9144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PEOPLE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1051560" y="1325880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1207008" y="1261872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Inconsistent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1051560" y="1591056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6"/>
          <p:cNvSpPr/>
          <p:nvPr/>
        </p:nvSpPr>
        <p:spPr>
          <a:xfrm>
            <a:off x="1207008" y="1527048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High turnover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1051560" y="1856232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"/>
          <p:cNvSpPr/>
          <p:nvPr/>
        </p:nvSpPr>
        <p:spPr>
          <a:xfrm>
            <a:off x="1207008" y="1792224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Skill gaps in compliance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1051560" y="2121408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6"/>
          <p:cNvSpPr/>
          <p:nvPr/>
        </p:nvSpPr>
        <p:spPr>
          <a:xfrm>
            <a:off x="1207008" y="2057400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cross-shift handoff SOP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3200400" y="914400"/>
            <a:ext cx="1920240" cy="32004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6"/>
          <p:cNvSpPr/>
          <p:nvPr/>
        </p:nvSpPr>
        <p:spPr>
          <a:xfrm>
            <a:off x="3200400" y="9144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3246120" y="1325880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6"/>
          <p:cNvSpPr/>
          <p:nvPr/>
        </p:nvSpPr>
        <p:spPr>
          <a:xfrm>
            <a:off x="3401568" y="1261872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Manual dual-control steps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3246120" y="1591056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6"/>
          <p:cNvSpPr/>
          <p:nvPr/>
        </p:nvSpPr>
        <p:spPr>
          <a:xfrm>
            <a:off x="3401568" y="1527048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exception triage protocol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3246120" y="1856232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6"/>
          <p:cNvSpPr/>
          <p:nvPr/>
        </p:nvSpPr>
        <p:spPr>
          <a:xfrm>
            <a:off x="3401568" y="1792224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Verification checklist gaps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3246120" y="2121408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6"/>
          <p:cNvSpPr/>
          <p:nvPr/>
        </p:nvSpPr>
        <p:spPr>
          <a:xfrm>
            <a:off x="3401568" y="2057400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Outdated procedure docs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5394960" y="914400"/>
            <a:ext cx="1920240" cy="32004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6"/>
          <p:cNvSpPr/>
          <p:nvPr/>
        </p:nvSpPr>
        <p:spPr>
          <a:xfrm>
            <a:off x="5394960" y="9144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5440680" y="1325880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6"/>
          <p:cNvSpPr/>
          <p:nvPr/>
        </p:nvSpPr>
        <p:spPr>
          <a:xfrm>
            <a:off x="5596128" y="1261872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automation for low-risk wires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/>
          <p:nvPr/>
        </p:nvSpPr>
        <p:spPr>
          <a:xfrm>
            <a:off x="5440680" y="1591056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6"/>
          <p:cNvSpPr/>
          <p:nvPr/>
        </p:nvSpPr>
        <p:spPr>
          <a:xfrm>
            <a:off x="5596128" y="1527048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System lag at peak times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5440680" y="1856232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6"/>
          <p:cNvSpPr/>
          <p:nvPr/>
        </p:nvSpPr>
        <p:spPr>
          <a:xfrm>
            <a:off x="5596128" y="1792224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Manual SWIFT entry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5440680" y="2121408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6"/>
          <p:cNvSpPr/>
          <p:nvPr/>
        </p:nvSpPr>
        <p:spPr>
          <a:xfrm>
            <a:off x="5596128" y="2057400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Disconnected core systems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1005840" y="4416552"/>
            <a:ext cx="1920240" cy="32004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6"/>
          <p:cNvSpPr/>
          <p:nvPr/>
        </p:nvSpPr>
        <p:spPr>
          <a:xfrm>
            <a:off x="1005840" y="441655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1051560" y="3172968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6"/>
          <p:cNvSpPr/>
          <p:nvPr/>
        </p:nvSpPr>
        <p:spPr>
          <a:xfrm>
            <a:off x="1207008" y="3108960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real-time queue visibility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1051560" y="3438144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6"/>
          <p:cNvSpPr/>
          <p:nvPr/>
        </p:nvSpPr>
        <p:spPr>
          <a:xfrm>
            <a:off x="1207008" y="3374136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Error tracking is manual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1051560" y="3703320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6"/>
          <p:cNvSpPr/>
          <p:nvPr/>
        </p:nvSpPr>
        <p:spPr>
          <a:xfrm>
            <a:off x="1207008" y="3639312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KPIs not reviewed daily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1051560" y="3968496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6"/>
          <p:cNvSpPr/>
          <p:nvPr/>
        </p:nvSpPr>
        <p:spPr>
          <a:xfrm>
            <a:off x="1207008" y="3904488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SLA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3200400" y="4416552"/>
            <a:ext cx="1920240" cy="32004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6"/>
          <p:cNvSpPr/>
          <p:nvPr/>
        </p:nvSpPr>
        <p:spPr>
          <a:xfrm>
            <a:off x="3200400" y="441655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3246120" y="3172968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6"/>
          <p:cNvSpPr/>
          <p:nvPr/>
        </p:nvSpPr>
        <p:spPr>
          <a:xfrm>
            <a:off x="3401568" y="3108960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Peak-hour staffing gaps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3246120" y="3438144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6"/>
          <p:cNvSpPr/>
          <p:nvPr/>
        </p:nvSpPr>
        <p:spPr>
          <a:xfrm>
            <a:off x="3401568" y="3374136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Physical workspace congestion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3246120" y="3703320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6"/>
          <p:cNvSpPr/>
          <p:nvPr/>
        </p:nvSpPr>
        <p:spPr>
          <a:xfrm>
            <a:off x="3401568" y="3639312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Interruption-heavy floor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6"/>
          <p:cNvSpPr/>
          <p:nvPr/>
        </p:nvSpPr>
        <p:spPr>
          <a:xfrm>
            <a:off x="3246120" y="3968496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6"/>
          <p:cNvSpPr/>
          <p:nvPr/>
        </p:nvSpPr>
        <p:spPr>
          <a:xfrm>
            <a:off x="3401568" y="3904488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Noise/distraction factors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6"/>
          <p:cNvSpPr/>
          <p:nvPr/>
        </p:nvSpPr>
        <p:spPr>
          <a:xfrm>
            <a:off x="5394960" y="4416552"/>
            <a:ext cx="1920240" cy="32004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"/>
          <p:cNvSpPr/>
          <p:nvPr/>
        </p:nvSpPr>
        <p:spPr>
          <a:xfrm>
            <a:off x="5394960" y="4416552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6"/>
          <p:cNvSpPr/>
          <p:nvPr/>
        </p:nvSpPr>
        <p:spPr>
          <a:xfrm>
            <a:off x="5440680" y="3172968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6"/>
          <p:cNvSpPr/>
          <p:nvPr/>
        </p:nvSpPr>
        <p:spPr>
          <a:xfrm>
            <a:off x="5596128" y="3108960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Tiered risk thresholds unclear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6"/>
          <p:cNvSpPr/>
          <p:nvPr/>
        </p:nvSpPr>
        <p:spPr>
          <a:xfrm>
            <a:off x="5440680" y="3438144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6"/>
          <p:cNvSpPr/>
          <p:nvPr/>
        </p:nvSpPr>
        <p:spPr>
          <a:xfrm>
            <a:off x="5596128" y="3374136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Approval authority ambiguity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6"/>
          <p:cNvSpPr/>
          <p:nvPr/>
        </p:nvSpPr>
        <p:spPr>
          <a:xfrm>
            <a:off x="5440680" y="3703320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6"/>
          <p:cNvSpPr/>
          <p:nvPr/>
        </p:nvSpPr>
        <p:spPr>
          <a:xfrm>
            <a:off x="5596128" y="3639312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Compliance hold criteria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6"/>
          <p:cNvSpPr/>
          <p:nvPr/>
        </p:nvSpPr>
        <p:spPr>
          <a:xfrm>
            <a:off x="5440680" y="3968496"/>
            <a:ext cx="109728" cy="10972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"/>
          <p:cNvSpPr/>
          <p:nvPr/>
        </p:nvSpPr>
        <p:spPr>
          <a:xfrm>
            <a:off x="5596128" y="3904488"/>
            <a:ext cx="1691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Escalation path undefined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6"/>
          <p:cNvCxnSpPr/>
          <p:nvPr/>
        </p:nvCxnSpPr>
        <p:spPr>
          <a:xfrm>
            <a:off x="6565392" y="2587752"/>
            <a:ext cx="0" cy="0"/>
          </a:xfrm>
          <a:prstGeom prst="straightConnector1">
            <a:avLst/>
          </a:prstGeom>
          <a:noFill/>
          <a:ln cap="flat" cmpd="sng" w="38100">
            <a:solidFill>
              <a:srgbClr val="1B2A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6"/>
          <p:cNvSpPr/>
          <p:nvPr/>
        </p:nvSpPr>
        <p:spPr>
          <a:xfrm>
            <a:off x="7124875" y="3262787"/>
            <a:ext cx="1920300" cy="1530300"/>
          </a:xfrm>
          <a:prstGeom prst="rect">
            <a:avLst/>
          </a:prstGeom>
          <a:solidFill>
            <a:srgbClr val="FFF8E1"/>
          </a:solidFill>
          <a:ln cap="flat" cmpd="sng" w="254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6"/>
          <p:cNvSpPr/>
          <p:nvPr/>
        </p:nvSpPr>
        <p:spPr>
          <a:xfrm>
            <a:off x="7022520" y="3364965"/>
            <a:ext cx="242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91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6914"/>
                </a:solidFill>
                <a:latin typeface="Calibri"/>
                <a:ea typeface="Calibri"/>
                <a:cs typeface="Calibri"/>
                <a:sym typeface="Calibri"/>
              </a:rPr>
              <a:t>★  KEY FINDINGS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6"/>
          <p:cNvSpPr/>
          <p:nvPr/>
        </p:nvSpPr>
        <p:spPr>
          <a:xfrm>
            <a:off x="7063848" y="3684799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Top 3 causes: Data Entry (38%), Missing Docs (22%), Compliance Hold (17%)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7068265" y="3987059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80% of defects traceable to 2 root causes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6"/>
          <p:cNvSpPr/>
          <p:nvPr/>
        </p:nvSpPr>
        <p:spPr>
          <a:xfrm>
            <a:off x="7063848" y="4333850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Manual entry + no automation = primary driver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7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7"/>
          <p:cNvSpPr/>
          <p:nvPr/>
        </p:nvSpPr>
        <p:spPr>
          <a:xfrm>
            <a:off x="0" y="0"/>
            <a:ext cx="548640" cy="731520"/>
          </a:xfrm>
          <a:prstGeom prst="rect">
            <a:avLst/>
          </a:prstGeom>
          <a:solidFill>
            <a:srgbClr val="126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7"/>
          <p:cNvSpPr/>
          <p:nvPr/>
        </p:nvSpPr>
        <p:spPr>
          <a:xfrm>
            <a:off x="0" y="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685800" y="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 PHASE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685800" y="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F0D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F0D0"/>
                </a:solidFill>
                <a:latin typeface="Calibri"/>
                <a:ea typeface="Calibri"/>
                <a:cs typeface="Calibri"/>
                <a:sym typeface="Calibri"/>
              </a:rPr>
              <a:t>Solution Design &amp; Implementation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320040" y="914400"/>
            <a:ext cx="2651760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7"/>
          <p:cNvSpPr/>
          <p:nvPr/>
        </p:nvSpPr>
        <p:spPr>
          <a:xfrm>
            <a:off x="320040" y="914400"/>
            <a:ext cx="2651760" cy="34747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7"/>
          <p:cNvSpPr/>
          <p:nvPr/>
        </p:nvSpPr>
        <p:spPr>
          <a:xfrm>
            <a:off x="320040" y="9144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685800" y="914400"/>
            <a:ext cx="2258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Input Automation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411480" y="1316736"/>
            <a:ext cx="248716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Deploy structured wire templates with field-level validation. Auto-populate beneficiary data from approved payee library. Eliminate 38% of data-entry defects.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411480" y="2395728"/>
            <a:ext cx="804672" cy="210312"/>
          </a:xfrm>
          <a:prstGeom prst="rect">
            <a:avLst/>
          </a:prstGeom>
          <a:solidFill>
            <a:srgbClr val="1A7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7"/>
          <p:cNvSpPr/>
          <p:nvPr/>
        </p:nvSpPr>
        <p:spPr>
          <a:xfrm>
            <a:off x="411480" y="2395728"/>
            <a:ext cx="8046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Impact: High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1280160" y="2395728"/>
            <a:ext cx="804672" cy="21031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7"/>
          <p:cNvSpPr/>
          <p:nvPr/>
        </p:nvSpPr>
        <p:spPr>
          <a:xfrm>
            <a:off x="1280160" y="2395728"/>
            <a:ext cx="8046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Effort: Med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7"/>
          <p:cNvSpPr/>
          <p:nvPr/>
        </p:nvSpPr>
        <p:spPr>
          <a:xfrm>
            <a:off x="3172968" y="914400"/>
            <a:ext cx="2651760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7"/>
          <p:cNvSpPr/>
          <p:nvPr/>
        </p:nvSpPr>
        <p:spPr>
          <a:xfrm>
            <a:off x="3172968" y="914400"/>
            <a:ext cx="2651760" cy="347472"/>
          </a:xfrm>
          <a:prstGeom prst="rect">
            <a:avLst/>
          </a:prstGeom>
          <a:solidFill>
            <a:srgbClr val="1A7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7"/>
          <p:cNvSpPr/>
          <p:nvPr/>
        </p:nvSpPr>
        <p:spPr>
          <a:xfrm>
            <a:off x="3172968" y="9144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3538728" y="914400"/>
            <a:ext cx="2258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Risk-Tiered Dual Control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3264408" y="1316736"/>
            <a:ext cx="248716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Segment wires by risk score. Low-risk domestic wires under $50K auto-cleared with single control. Reduces bottleneck by ~40% at peak hours.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3264408" y="2395728"/>
            <a:ext cx="804672" cy="210312"/>
          </a:xfrm>
          <a:prstGeom prst="rect">
            <a:avLst/>
          </a:prstGeom>
          <a:solidFill>
            <a:srgbClr val="1A7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7"/>
          <p:cNvSpPr/>
          <p:nvPr/>
        </p:nvSpPr>
        <p:spPr>
          <a:xfrm>
            <a:off x="3264408" y="2395728"/>
            <a:ext cx="8046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Impact: High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4133088" y="2395728"/>
            <a:ext cx="804672" cy="21031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7"/>
          <p:cNvSpPr/>
          <p:nvPr/>
        </p:nvSpPr>
        <p:spPr>
          <a:xfrm>
            <a:off x="4133088" y="2395728"/>
            <a:ext cx="8046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Effort: Med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6025896" y="914400"/>
            <a:ext cx="2651760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7"/>
          <p:cNvSpPr/>
          <p:nvPr/>
        </p:nvSpPr>
        <p:spPr>
          <a:xfrm>
            <a:off x="6025896" y="914400"/>
            <a:ext cx="2651760" cy="3474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7"/>
          <p:cNvSpPr/>
          <p:nvPr/>
        </p:nvSpPr>
        <p:spPr>
          <a:xfrm>
            <a:off x="6025896" y="9144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6391656" y="914400"/>
            <a:ext cx="2258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Checklist &amp; SOP Portal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6117336" y="1316736"/>
            <a:ext cx="248716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Replace paper checklists with role-based digital forms. SOPs embedded at point-of-need. Mandatory completion before submission unlocks.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6117336" y="2395728"/>
            <a:ext cx="804672" cy="2103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7"/>
          <p:cNvSpPr/>
          <p:nvPr/>
        </p:nvSpPr>
        <p:spPr>
          <a:xfrm>
            <a:off x="6117336" y="2395728"/>
            <a:ext cx="8046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Impact: Med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7"/>
          <p:cNvSpPr/>
          <p:nvPr/>
        </p:nvSpPr>
        <p:spPr>
          <a:xfrm>
            <a:off x="6986016" y="2395728"/>
            <a:ext cx="804672" cy="21031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7"/>
          <p:cNvSpPr/>
          <p:nvPr/>
        </p:nvSpPr>
        <p:spPr>
          <a:xfrm>
            <a:off x="6986016" y="2395728"/>
            <a:ext cx="8046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Effort: Low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320040" y="2926080"/>
            <a:ext cx="2651760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7"/>
          <p:cNvSpPr/>
          <p:nvPr/>
        </p:nvSpPr>
        <p:spPr>
          <a:xfrm>
            <a:off x="320040" y="2926080"/>
            <a:ext cx="265176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7"/>
          <p:cNvSpPr/>
          <p:nvPr/>
        </p:nvSpPr>
        <p:spPr>
          <a:xfrm>
            <a:off x="320040" y="2926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685800" y="2926080"/>
            <a:ext cx="2258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Operations Dashboard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411480" y="3328416"/>
            <a:ext cx="248716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Live KPI view: queue depth, aging transactions, error flags, SLA countdown. Supervisors receive push alerts for exceptions &gt; 15 min.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7"/>
          <p:cNvSpPr/>
          <p:nvPr/>
        </p:nvSpPr>
        <p:spPr>
          <a:xfrm>
            <a:off x="411480" y="4407408"/>
            <a:ext cx="804672" cy="210312"/>
          </a:xfrm>
          <a:prstGeom prst="rect">
            <a:avLst/>
          </a:prstGeom>
          <a:solidFill>
            <a:srgbClr val="1A7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7"/>
          <p:cNvSpPr/>
          <p:nvPr/>
        </p:nvSpPr>
        <p:spPr>
          <a:xfrm>
            <a:off x="411480" y="4407408"/>
            <a:ext cx="8046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Impact: High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1280160" y="4407408"/>
            <a:ext cx="804672" cy="21031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7"/>
          <p:cNvSpPr/>
          <p:nvPr/>
        </p:nvSpPr>
        <p:spPr>
          <a:xfrm>
            <a:off x="1280160" y="4407408"/>
            <a:ext cx="8046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Effort: High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3172968" y="2926080"/>
            <a:ext cx="2651760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7"/>
          <p:cNvSpPr/>
          <p:nvPr/>
        </p:nvSpPr>
        <p:spPr>
          <a:xfrm>
            <a:off x="3172968" y="2926080"/>
            <a:ext cx="265176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7"/>
          <p:cNvSpPr/>
          <p:nvPr/>
        </p:nvSpPr>
        <p:spPr>
          <a:xfrm>
            <a:off x="3172968" y="2926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7"/>
          <p:cNvSpPr/>
          <p:nvPr/>
        </p:nvSpPr>
        <p:spPr>
          <a:xfrm>
            <a:off x="3538728" y="2926080"/>
            <a:ext cx="2258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Cross-Training &amp; Certification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7"/>
          <p:cNvSpPr/>
          <p:nvPr/>
        </p:nvSpPr>
        <p:spPr>
          <a:xfrm>
            <a:off x="3264408" y="3328416"/>
            <a:ext cx="248716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Structured 3-week wire operations curriculum. Role-based competency assessments. All staff certified before handling complex international wires.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7"/>
          <p:cNvSpPr/>
          <p:nvPr/>
        </p:nvSpPr>
        <p:spPr>
          <a:xfrm>
            <a:off x="3264408" y="4407408"/>
            <a:ext cx="804672" cy="2103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7"/>
          <p:cNvSpPr/>
          <p:nvPr/>
        </p:nvSpPr>
        <p:spPr>
          <a:xfrm>
            <a:off x="3264408" y="4407408"/>
            <a:ext cx="8046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Impact: Med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7"/>
          <p:cNvSpPr/>
          <p:nvPr/>
        </p:nvSpPr>
        <p:spPr>
          <a:xfrm>
            <a:off x="4133088" y="4407408"/>
            <a:ext cx="804672" cy="21031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7"/>
          <p:cNvSpPr/>
          <p:nvPr/>
        </p:nvSpPr>
        <p:spPr>
          <a:xfrm>
            <a:off x="4133088" y="4407408"/>
            <a:ext cx="8046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Effort: Low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7"/>
          <p:cNvSpPr/>
          <p:nvPr/>
        </p:nvSpPr>
        <p:spPr>
          <a:xfrm>
            <a:off x="6025896" y="2926080"/>
            <a:ext cx="2651760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7"/>
          <p:cNvSpPr/>
          <p:nvPr/>
        </p:nvSpPr>
        <p:spPr>
          <a:xfrm>
            <a:off x="6025896" y="2926080"/>
            <a:ext cx="265176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7"/>
          <p:cNvSpPr/>
          <p:nvPr/>
        </p:nvSpPr>
        <p:spPr>
          <a:xfrm>
            <a:off x="6025896" y="2926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7"/>
          <p:cNvSpPr/>
          <p:nvPr/>
        </p:nvSpPr>
        <p:spPr>
          <a:xfrm>
            <a:off x="6391656" y="2926080"/>
            <a:ext cx="2258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Daily Ops Review Cadence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7"/>
          <p:cNvSpPr/>
          <p:nvPr/>
        </p:nvSpPr>
        <p:spPr>
          <a:xfrm>
            <a:off x="6117336" y="3328416"/>
            <a:ext cx="248716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10-min daily stand-up with shift leads. Error trend review, queue planning, escalation triage. Structured format; 30-min weekly manager roll-up.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6117336" y="4407408"/>
            <a:ext cx="804672" cy="2103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7"/>
          <p:cNvSpPr/>
          <p:nvPr/>
        </p:nvSpPr>
        <p:spPr>
          <a:xfrm>
            <a:off x="6117336" y="4407408"/>
            <a:ext cx="8046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Impact: Med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7"/>
          <p:cNvSpPr/>
          <p:nvPr/>
        </p:nvSpPr>
        <p:spPr>
          <a:xfrm>
            <a:off x="6986016" y="4407408"/>
            <a:ext cx="804672" cy="21031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7"/>
          <p:cNvSpPr/>
          <p:nvPr/>
        </p:nvSpPr>
        <p:spPr>
          <a:xfrm>
            <a:off x="6986016" y="4407408"/>
            <a:ext cx="8046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Effort: Low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8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8"/>
          <p:cNvSpPr/>
          <p:nvPr/>
        </p:nvSpPr>
        <p:spPr>
          <a:xfrm>
            <a:off x="0" y="0"/>
            <a:ext cx="54864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8"/>
          <p:cNvSpPr/>
          <p:nvPr/>
        </p:nvSpPr>
        <p:spPr>
          <a:xfrm>
            <a:off x="0" y="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685800" y="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PHASE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8"/>
          <p:cNvSpPr/>
          <p:nvPr/>
        </p:nvSpPr>
        <p:spPr>
          <a:xfrm>
            <a:off x="685800" y="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D8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D8F8"/>
                </a:solidFill>
                <a:latin typeface="Calibri"/>
                <a:ea typeface="Calibri"/>
                <a:cs typeface="Calibri"/>
                <a:sym typeface="Calibri"/>
              </a:rPr>
              <a:t>Sustaining Improvements &amp; Governance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8"/>
          <p:cNvSpPr/>
          <p:nvPr/>
        </p:nvSpPr>
        <p:spPr>
          <a:xfrm>
            <a:off x="320040" y="868680"/>
            <a:ext cx="85039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8"/>
          <p:cNvSpPr/>
          <p:nvPr/>
        </p:nvSpPr>
        <p:spPr>
          <a:xfrm>
            <a:off x="411480" y="93268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CONTROL PLAN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8"/>
          <p:cNvSpPr/>
          <p:nvPr/>
        </p:nvSpPr>
        <p:spPr>
          <a:xfrm>
            <a:off x="320040" y="1207008"/>
            <a:ext cx="1554480" cy="27432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8"/>
          <p:cNvSpPr/>
          <p:nvPr/>
        </p:nvSpPr>
        <p:spPr>
          <a:xfrm>
            <a:off x="320040" y="120700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CTQ Metric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8"/>
          <p:cNvSpPr/>
          <p:nvPr/>
        </p:nvSpPr>
        <p:spPr>
          <a:xfrm>
            <a:off x="1874520" y="1207008"/>
            <a:ext cx="1005840" cy="27432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8"/>
          <p:cNvSpPr/>
          <p:nvPr/>
        </p:nvSpPr>
        <p:spPr>
          <a:xfrm>
            <a:off x="1874520" y="120700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 Limit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8"/>
          <p:cNvSpPr/>
          <p:nvPr/>
        </p:nvSpPr>
        <p:spPr>
          <a:xfrm>
            <a:off x="2880360" y="1207008"/>
            <a:ext cx="1371600" cy="27432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8"/>
          <p:cNvSpPr/>
          <p:nvPr/>
        </p:nvSpPr>
        <p:spPr>
          <a:xfrm>
            <a:off x="2880360" y="12070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8"/>
          <p:cNvSpPr/>
          <p:nvPr/>
        </p:nvSpPr>
        <p:spPr>
          <a:xfrm>
            <a:off x="4251960" y="1207008"/>
            <a:ext cx="822960" cy="27432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8"/>
          <p:cNvSpPr/>
          <p:nvPr/>
        </p:nvSpPr>
        <p:spPr>
          <a:xfrm>
            <a:off x="4251960" y="12070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5074920" y="1207008"/>
            <a:ext cx="914400" cy="27432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8"/>
          <p:cNvSpPr/>
          <p:nvPr/>
        </p:nvSpPr>
        <p:spPr>
          <a:xfrm>
            <a:off x="5074920" y="120700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8"/>
          <p:cNvSpPr/>
          <p:nvPr/>
        </p:nvSpPr>
        <p:spPr>
          <a:xfrm>
            <a:off x="5989320" y="1207008"/>
            <a:ext cx="2514600" cy="27432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8"/>
          <p:cNvSpPr/>
          <p:nvPr/>
        </p:nvSpPr>
        <p:spPr>
          <a:xfrm>
            <a:off x="5989320" y="120700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Response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320040" y="1481328"/>
            <a:ext cx="155448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8"/>
          <p:cNvSpPr/>
          <p:nvPr/>
        </p:nvSpPr>
        <p:spPr>
          <a:xfrm>
            <a:off x="365760" y="1481328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Cycle Time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1874520" y="1481328"/>
            <a:ext cx="100584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8"/>
          <p:cNvSpPr/>
          <p:nvPr/>
        </p:nvSpPr>
        <p:spPr>
          <a:xfrm>
            <a:off x="1920240" y="1481328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≤ 14 min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2880360" y="1481328"/>
            <a:ext cx="137160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8"/>
          <p:cNvSpPr/>
          <p:nvPr/>
        </p:nvSpPr>
        <p:spPr>
          <a:xfrm>
            <a:off x="2926080" y="1481328"/>
            <a:ext cx="1280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Ops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4251960" y="1481328"/>
            <a:ext cx="82296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8"/>
          <p:cNvSpPr/>
          <p:nvPr/>
        </p:nvSpPr>
        <p:spPr>
          <a:xfrm>
            <a:off x="4297680" y="1481328"/>
            <a:ext cx="731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Real-time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5074920" y="1481328"/>
            <a:ext cx="91440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8"/>
          <p:cNvSpPr/>
          <p:nvPr/>
        </p:nvSpPr>
        <p:spPr>
          <a:xfrm>
            <a:off x="5120640" y="1481328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Ops Mgr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5989320" y="1481328"/>
            <a:ext cx="251460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8"/>
          <p:cNvSpPr/>
          <p:nvPr/>
        </p:nvSpPr>
        <p:spPr>
          <a:xfrm>
            <a:off x="6035040" y="1481328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Escalate if &gt; 18 min; supervisor review at &gt; 20 min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8"/>
          <p:cNvSpPr/>
          <p:nvPr/>
        </p:nvSpPr>
        <p:spPr>
          <a:xfrm>
            <a:off x="320040" y="1920240"/>
            <a:ext cx="1554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8"/>
          <p:cNvSpPr/>
          <p:nvPr/>
        </p:nvSpPr>
        <p:spPr>
          <a:xfrm>
            <a:off x="365760" y="192024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Error Rate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8"/>
          <p:cNvSpPr/>
          <p:nvPr/>
        </p:nvSpPr>
        <p:spPr>
          <a:xfrm>
            <a:off x="1874520" y="1920240"/>
            <a:ext cx="1005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8"/>
          <p:cNvSpPr/>
          <p:nvPr/>
        </p:nvSpPr>
        <p:spPr>
          <a:xfrm>
            <a:off x="1920240" y="1920240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&lt; 1.5%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8"/>
          <p:cNvSpPr/>
          <p:nvPr/>
        </p:nvSpPr>
        <p:spPr>
          <a:xfrm>
            <a:off x="2880360" y="1920240"/>
            <a:ext cx="1371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8"/>
          <p:cNvSpPr/>
          <p:nvPr/>
        </p:nvSpPr>
        <p:spPr>
          <a:xfrm>
            <a:off x="2926080" y="1920240"/>
            <a:ext cx="1280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Error Log System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8"/>
          <p:cNvSpPr/>
          <p:nvPr/>
        </p:nvSpPr>
        <p:spPr>
          <a:xfrm>
            <a:off x="4251960" y="1920240"/>
            <a:ext cx="822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8"/>
          <p:cNvSpPr/>
          <p:nvPr/>
        </p:nvSpPr>
        <p:spPr>
          <a:xfrm>
            <a:off x="4297680" y="1920240"/>
            <a:ext cx="731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Daily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8"/>
          <p:cNvSpPr/>
          <p:nvPr/>
        </p:nvSpPr>
        <p:spPr>
          <a:xfrm>
            <a:off x="5074920" y="1920240"/>
            <a:ext cx="914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8"/>
          <p:cNvSpPr/>
          <p:nvPr/>
        </p:nvSpPr>
        <p:spPr>
          <a:xfrm>
            <a:off x="5120640" y="1920240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QA Lead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8"/>
          <p:cNvSpPr/>
          <p:nvPr/>
        </p:nvSpPr>
        <p:spPr>
          <a:xfrm>
            <a:off x="5989320" y="1920240"/>
            <a:ext cx="2514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8"/>
          <p:cNvSpPr/>
          <p:nvPr/>
        </p:nvSpPr>
        <p:spPr>
          <a:xfrm>
            <a:off x="6035040" y="1920240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Root cause 24hr; corrective action within 48hr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8"/>
          <p:cNvSpPr/>
          <p:nvPr/>
        </p:nvSpPr>
        <p:spPr>
          <a:xfrm>
            <a:off x="320040" y="2359152"/>
            <a:ext cx="155448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8"/>
          <p:cNvSpPr/>
          <p:nvPr/>
        </p:nvSpPr>
        <p:spPr>
          <a:xfrm>
            <a:off x="365760" y="2359152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Settlement 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8"/>
          <p:cNvSpPr/>
          <p:nvPr/>
        </p:nvSpPr>
        <p:spPr>
          <a:xfrm>
            <a:off x="1874520" y="2359152"/>
            <a:ext cx="100584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8"/>
          <p:cNvSpPr/>
          <p:nvPr/>
        </p:nvSpPr>
        <p:spPr>
          <a:xfrm>
            <a:off x="1920240" y="2359152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≥ 97%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2880360" y="2359152"/>
            <a:ext cx="137160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8"/>
          <p:cNvSpPr/>
          <p:nvPr/>
        </p:nvSpPr>
        <p:spPr>
          <a:xfrm>
            <a:off x="2926080" y="2359152"/>
            <a:ext cx="1280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SWIFT Reports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8"/>
          <p:cNvSpPr/>
          <p:nvPr/>
        </p:nvSpPr>
        <p:spPr>
          <a:xfrm>
            <a:off x="4251960" y="2359152"/>
            <a:ext cx="82296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8"/>
          <p:cNvSpPr/>
          <p:nvPr/>
        </p:nvSpPr>
        <p:spPr>
          <a:xfrm>
            <a:off x="4297680" y="2359152"/>
            <a:ext cx="731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Daily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8"/>
          <p:cNvSpPr/>
          <p:nvPr/>
        </p:nvSpPr>
        <p:spPr>
          <a:xfrm>
            <a:off x="5074920" y="2359152"/>
            <a:ext cx="91440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8"/>
          <p:cNvSpPr/>
          <p:nvPr/>
        </p:nvSpPr>
        <p:spPr>
          <a:xfrm>
            <a:off x="5120640" y="2359152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Treasury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8"/>
          <p:cNvSpPr/>
          <p:nvPr/>
        </p:nvSpPr>
        <p:spPr>
          <a:xfrm>
            <a:off x="5989320" y="2359152"/>
            <a:ext cx="2514600" cy="438912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8"/>
          <p:cNvSpPr/>
          <p:nvPr/>
        </p:nvSpPr>
        <p:spPr>
          <a:xfrm>
            <a:off x="6035040" y="2359152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Escalate to Dir if 2 consecutive days &lt; target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320040" y="2798064"/>
            <a:ext cx="1554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8"/>
          <p:cNvSpPr/>
          <p:nvPr/>
        </p:nvSpPr>
        <p:spPr>
          <a:xfrm>
            <a:off x="365760" y="2798064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 Except.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8"/>
          <p:cNvSpPr/>
          <p:nvPr/>
        </p:nvSpPr>
        <p:spPr>
          <a:xfrm>
            <a:off x="1874520" y="2798064"/>
            <a:ext cx="1005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8"/>
          <p:cNvSpPr/>
          <p:nvPr/>
        </p:nvSpPr>
        <p:spPr>
          <a:xfrm>
            <a:off x="1920240" y="2798064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&lt; 0.5%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8"/>
          <p:cNvSpPr/>
          <p:nvPr/>
        </p:nvSpPr>
        <p:spPr>
          <a:xfrm>
            <a:off x="2880360" y="2798064"/>
            <a:ext cx="1371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8"/>
          <p:cNvSpPr/>
          <p:nvPr/>
        </p:nvSpPr>
        <p:spPr>
          <a:xfrm>
            <a:off x="2926080" y="2798064"/>
            <a:ext cx="1280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Compliance 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8"/>
          <p:cNvSpPr/>
          <p:nvPr/>
        </p:nvSpPr>
        <p:spPr>
          <a:xfrm>
            <a:off x="4251960" y="2798064"/>
            <a:ext cx="822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8"/>
          <p:cNvSpPr/>
          <p:nvPr/>
        </p:nvSpPr>
        <p:spPr>
          <a:xfrm>
            <a:off x="4297680" y="2798064"/>
            <a:ext cx="731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Daily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8"/>
          <p:cNvSpPr/>
          <p:nvPr/>
        </p:nvSpPr>
        <p:spPr>
          <a:xfrm>
            <a:off x="5074920" y="2798064"/>
            <a:ext cx="914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8"/>
          <p:cNvSpPr/>
          <p:nvPr/>
        </p:nvSpPr>
        <p:spPr>
          <a:xfrm>
            <a:off x="5120640" y="2798064"/>
            <a:ext cx="822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8"/>
          <p:cNvSpPr/>
          <p:nvPr/>
        </p:nvSpPr>
        <p:spPr>
          <a:xfrm>
            <a:off x="5989320" y="2798064"/>
            <a:ext cx="2514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8"/>
          <p:cNvSpPr/>
          <p:nvPr/>
        </p:nvSpPr>
        <p:spPr>
          <a:xfrm>
            <a:off x="6035040" y="2798064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Immediate hold; BSA review within 4 hours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8"/>
          <p:cNvSpPr/>
          <p:nvPr/>
        </p:nvSpPr>
        <p:spPr>
          <a:xfrm>
            <a:off x="320040" y="3657600"/>
            <a:ext cx="26517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8"/>
          <p:cNvSpPr/>
          <p:nvPr/>
        </p:nvSpPr>
        <p:spPr>
          <a:xfrm>
            <a:off x="320040" y="3657600"/>
            <a:ext cx="2651760" cy="32918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8"/>
          <p:cNvSpPr/>
          <p:nvPr/>
        </p:nvSpPr>
        <p:spPr>
          <a:xfrm>
            <a:off x="411480" y="365760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SOP Library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8"/>
          <p:cNvSpPr/>
          <p:nvPr/>
        </p:nvSpPr>
        <p:spPr>
          <a:xfrm>
            <a:off x="411480" y="400507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All 14 wire procedures documented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8"/>
          <p:cNvSpPr/>
          <p:nvPr/>
        </p:nvSpPr>
        <p:spPr>
          <a:xfrm>
            <a:off x="411480" y="4224528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Version-controlled repository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8"/>
          <p:cNvSpPr/>
          <p:nvPr/>
        </p:nvSpPr>
        <p:spPr>
          <a:xfrm>
            <a:off x="411480" y="4443984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Quarterly review cycle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8"/>
          <p:cNvSpPr/>
          <p:nvPr/>
        </p:nvSpPr>
        <p:spPr>
          <a:xfrm>
            <a:off x="411480" y="466344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Role-based access by function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8"/>
          <p:cNvSpPr/>
          <p:nvPr/>
        </p:nvSpPr>
        <p:spPr>
          <a:xfrm>
            <a:off x="3172968" y="3657600"/>
            <a:ext cx="26517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8"/>
          <p:cNvSpPr/>
          <p:nvPr/>
        </p:nvSpPr>
        <p:spPr>
          <a:xfrm>
            <a:off x="3172968" y="3657600"/>
            <a:ext cx="2651760" cy="329184"/>
          </a:xfrm>
          <a:prstGeom prst="rect">
            <a:avLst/>
          </a:prstGeom>
          <a:solidFill>
            <a:srgbClr val="1A7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8"/>
          <p:cNvSpPr/>
          <p:nvPr/>
        </p:nvSpPr>
        <p:spPr>
          <a:xfrm>
            <a:off x="3264408" y="365760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Governance Cadence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8"/>
          <p:cNvSpPr/>
          <p:nvPr/>
        </p:nvSpPr>
        <p:spPr>
          <a:xfrm>
            <a:off x="3264408" y="400507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Daily 10-min ops stand-up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8"/>
          <p:cNvSpPr/>
          <p:nvPr/>
        </p:nvSpPr>
        <p:spPr>
          <a:xfrm>
            <a:off x="3264408" y="4224528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Weekly error trend review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8"/>
          <p:cNvSpPr/>
          <p:nvPr/>
        </p:nvSpPr>
        <p:spPr>
          <a:xfrm>
            <a:off x="3264408" y="4443984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Monthly exec scorecard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8"/>
          <p:cNvSpPr/>
          <p:nvPr/>
        </p:nvSpPr>
        <p:spPr>
          <a:xfrm>
            <a:off x="3264408" y="466344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Quarterly capability reassessment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8"/>
          <p:cNvSpPr/>
          <p:nvPr/>
        </p:nvSpPr>
        <p:spPr>
          <a:xfrm>
            <a:off x="6025896" y="3657600"/>
            <a:ext cx="26517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8"/>
          <p:cNvSpPr/>
          <p:nvPr/>
        </p:nvSpPr>
        <p:spPr>
          <a:xfrm>
            <a:off x="6025896" y="3657600"/>
            <a:ext cx="2651760" cy="32918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8"/>
          <p:cNvSpPr/>
          <p:nvPr/>
        </p:nvSpPr>
        <p:spPr>
          <a:xfrm>
            <a:off x="6117336" y="365760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 Program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8"/>
          <p:cNvSpPr/>
          <p:nvPr/>
        </p:nvSpPr>
        <p:spPr>
          <a:xfrm>
            <a:off x="6117336" y="400507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Initial 3-week certification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8"/>
          <p:cNvSpPr/>
          <p:nvPr/>
        </p:nvSpPr>
        <p:spPr>
          <a:xfrm>
            <a:off x="6117336" y="4224528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Annual recertification required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8"/>
          <p:cNvSpPr/>
          <p:nvPr/>
        </p:nvSpPr>
        <p:spPr>
          <a:xfrm>
            <a:off x="6117336" y="4443984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Competency tracking in LMS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8"/>
          <p:cNvSpPr/>
          <p:nvPr/>
        </p:nvSpPr>
        <p:spPr>
          <a:xfrm>
            <a:off x="6117336" y="466344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Peer coaching model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6B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22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PROJECTED RESULTS &amp; ROI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9"/>
          <p:cNvSpPr/>
          <p:nvPr/>
        </p:nvSpPr>
        <p:spPr>
          <a:xfrm>
            <a:off x="320040" y="822960"/>
            <a:ext cx="1554480" cy="1645920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320040" y="822960"/>
            <a:ext cx="1554480" cy="1097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320040" y="100584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45%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9"/>
          <p:cNvSpPr/>
          <p:nvPr/>
        </p:nvSpPr>
        <p:spPr>
          <a:xfrm>
            <a:off x="320040" y="1664208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Cycle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9"/>
          <p:cNvSpPr/>
          <p:nvPr/>
        </p:nvSpPr>
        <p:spPr>
          <a:xfrm>
            <a:off x="320040" y="208483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24 min → 13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9"/>
          <p:cNvSpPr/>
          <p:nvPr/>
        </p:nvSpPr>
        <p:spPr>
          <a:xfrm>
            <a:off x="2039112" y="822960"/>
            <a:ext cx="1554480" cy="1645920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9"/>
          <p:cNvSpPr/>
          <p:nvPr/>
        </p:nvSpPr>
        <p:spPr>
          <a:xfrm>
            <a:off x="2039112" y="822960"/>
            <a:ext cx="1554480" cy="109728"/>
          </a:xfrm>
          <a:prstGeom prst="rect">
            <a:avLst/>
          </a:prstGeom>
          <a:solidFill>
            <a:srgbClr val="1A7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9"/>
          <p:cNvSpPr/>
          <p:nvPr/>
        </p:nvSpPr>
        <p:spPr>
          <a:xfrm>
            <a:off x="2039112" y="100584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F5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7F5A"/>
                </a:solidFill>
                <a:latin typeface="Calibri"/>
                <a:ea typeface="Calibri"/>
                <a:cs typeface="Calibri"/>
                <a:sym typeface="Calibri"/>
              </a:rPr>
              <a:t>62%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9"/>
          <p:cNvSpPr/>
          <p:nvPr/>
        </p:nvSpPr>
        <p:spPr>
          <a:xfrm>
            <a:off x="2039112" y="1664208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Decrease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9"/>
          <p:cNvSpPr/>
          <p:nvPr/>
        </p:nvSpPr>
        <p:spPr>
          <a:xfrm>
            <a:off x="2039112" y="208483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3.2% → 1.2%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9"/>
          <p:cNvSpPr/>
          <p:nvPr/>
        </p:nvSpPr>
        <p:spPr>
          <a:xfrm>
            <a:off x="3758184" y="822960"/>
            <a:ext cx="1554480" cy="1645920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9"/>
          <p:cNvSpPr/>
          <p:nvPr/>
        </p:nvSpPr>
        <p:spPr>
          <a:xfrm>
            <a:off x="3758184" y="822960"/>
            <a:ext cx="1554480" cy="109728"/>
          </a:xfrm>
          <a:prstGeom prst="rect">
            <a:avLst/>
          </a:prstGeom>
          <a:solidFill>
            <a:srgbClr val="E0C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9"/>
          <p:cNvSpPr/>
          <p:nvPr/>
        </p:nvSpPr>
        <p:spPr>
          <a:xfrm>
            <a:off x="3758184" y="100584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C0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0C040"/>
                </a:solidFill>
                <a:latin typeface="Calibri"/>
                <a:ea typeface="Calibri"/>
                <a:cs typeface="Calibri"/>
                <a:sym typeface="Calibri"/>
              </a:rPr>
              <a:t>$340K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9"/>
          <p:cNvSpPr/>
          <p:nvPr/>
        </p:nvSpPr>
        <p:spPr>
          <a:xfrm>
            <a:off x="3758184" y="1664208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Annual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9"/>
          <p:cNvSpPr/>
          <p:nvPr/>
        </p:nvSpPr>
        <p:spPr>
          <a:xfrm>
            <a:off x="3758184" y="208483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Rework elimination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9"/>
          <p:cNvSpPr/>
          <p:nvPr/>
        </p:nvSpPr>
        <p:spPr>
          <a:xfrm>
            <a:off x="5477256" y="822960"/>
            <a:ext cx="1554480" cy="1645920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9"/>
          <p:cNvSpPr/>
          <p:nvPr/>
        </p:nvSpPr>
        <p:spPr>
          <a:xfrm>
            <a:off x="5477256" y="822960"/>
            <a:ext cx="1554480" cy="1097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9"/>
          <p:cNvSpPr/>
          <p:nvPr/>
        </p:nvSpPr>
        <p:spPr>
          <a:xfrm>
            <a:off x="5477256" y="100584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55%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9"/>
          <p:cNvSpPr/>
          <p:nvPr/>
        </p:nvSpPr>
        <p:spPr>
          <a:xfrm>
            <a:off x="5477256" y="1664208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Complaints 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9"/>
          <p:cNvSpPr/>
          <p:nvPr/>
        </p:nvSpPr>
        <p:spPr>
          <a:xfrm>
            <a:off x="5477256" y="208483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~22/mo → ~10/mo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9"/>
          <p:cNvSpPr/>
          <p:nvPr/>
        </p:nvSpPr>
        <p:spPr>
          <a:xfrm>
            <a:off x="7196328" y="822960"/>
            <a:ext cx="1554480" cy="1645920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9"/>
          <p:cNvSpPr/>
          <p:nvPr/>
        </p:nvSpPr>
        <p:spPr>
          <a:xfrm>
            <a:off x="7196328" y="822960"/>
            <a:ext cx="1554480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9"/>
          <p:cNvSpPr/>
          <p:nvPr/>
        </p:nvSpPr>
        <p:spPr>
          <a:xfrm>
            <a:off x="7196328" y="100584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9"/>
          <p:cNvSpPr/>
          <p:nvPr/>
        </p:nvSpPr>
        <p:spPr>
          <a:xfrm>
            <a:off x="7196328" y="1664208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Throughput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Increase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9"/>
          <p:cNvSpPr/>
          <p:nvPr/>
        </p:nvSpPr>
        <p:spPr>
          <a:xfrm>
            <a:off x="7196328" y="208483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+25 wires/day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9"/>
          <p:cNvSpPr/>
          <p:nvPr/>
        </p:nvSpPr>
        <p:spPr>
          <a:xfrm>
            <a:off x="320040" y="2578608"/>
            <a:ext cx="8503920" cy="2286000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9"/>
          <p:cNvSpPr/>
          <p:nvPr/>
        </p:nvSpPr>
        <p:spPr>
          <a:xfrm>
            <a:off x="457200" y="26517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BEFORE VS. AFTER COMPARISON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9"/>
          <p:cNvSpPr/>
          <p:nvPr/>
        </p:nvSpPr>
        <p:spPr>
          <a:xfrm>
            <a:off x="411480" y="2944368"/>
            <a:ext cx="2103120" cy="32004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9"/>
          <p:cNvSpPr/>
          <p:nvPr/>
        </p:nvSpPr>
        <p:spPr>
          <a:xfrm>
            <a:off x="457200" y="294436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9"/>
          <p:cNvSpPr/>
          <p:nvPr/>
        </p:nvSpPr>
        <p:spPr>
          <a:xfrm>
            <a:off x="2606040" y="2944368"/>
            <a:ext cx="1645920" cy="32004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9"/>
          <p:cNvSpPr/>
          <p:nvPr/>
        </p:nvSpPr>
        <p:spPr>
          <a:xfrm>
            <a:off x="2651760" y="294436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9"/>
          <p:cNvSpPr/>
          <p:nvPr/>
        </p:nvSpPr>
        <p:spPr>
          <a:xfrm>
            <a:off x="4343400" y="2944368"/>
            <a:ext cx="1645920" cy="32004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9"/>
          <p:cNvSpPr/>
          <p:nvPr/>
        </p:nvSpPr>
        <p:spPr>
          <a:xfrm>
            <a:off x="4389120" y="294436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9"/>
          <p:cNvSpPr/>
          <p:nvPr/>
        </p:nvSpPr>
        <p:spPr>
          <a:xfrm>
            <a:off x="6080760" y="2944368"/>
            <a:ext cx="1097280" cy="32004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9"/>
          <p:cNvSpPr/>
          <p:nvPr/>
        </p:nvSpPr>
        <p:spPr>
          <a:xfrm>
            <a:off x="6126480" y="294436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∆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9"/>
          <p:cNvSpPr/>
          <p:nvPr/>
        </p:nvSpPr>
        <p:spPr>
          <a:xfrm>
            <a:off x="411480" y="3264408"/>
            <a:ext cx="2103120" cy="320040"/>
          </a:xfrm>
          <a:prstGeom prst="rect">
            <a:avLst/>
          </a:prstGeom>
          <a:solidFill>
            <a:srgbClr val="1E33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9"/>
          <p:cNvSpPr/>
          <p:nvPr/>
        </p:nvSpPr>
        <p:spPr>
          <a:xfrm>
            <a:off x="457200" y="326440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 Cycle 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9"/>
          <p:cNvSpPr/>
          <p:nvPr/>
        </p:nvSpPr>
        <p:spPr>
          <a:xfrm>
            <a:off x="2606040" y="3264408"/>
            <a:ext cx="1645920" cy="320040"/>
          </a:xfrm>
          <a:prstGeom prst="rect">
            <a:avLst/>
          </a:prstGeom>
          <a:solidFill>
            <a:srgbClr val="1E33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9"/>
          <p:cNvSpPr/>
          <p:nvPr/>
        </p:nvSpPr>
        <p:spPr>
          <a:xfrm>
            <a:off x="2651760" y="326440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 min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9"/>
          <p:cNvSpPr/>
          <p:nvPr/>
        </p:nvSpPr>
        <p:spPr>
          <a:xfrm>
            <a:off x="4343400" y="3264408"/>
            <a:ext cx="1645920" cy="320040"/>
          </a:xfrm>
          <a:prstGeom prst="rect">
            <a:avLst/>
          </a:prstGeom>
          <a:solidFill>
            <a:srgbClr val="1E33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9"/>
          <p:cNvSpPr/>
          <p:nvPr/>
        </p:nvSpPr>
        <p:spPr>
          <a:xfrm>
            <a:off x="4389120" y="326440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 min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9"/>
          <p:cNvSpPr/>
          <p:nvPr/>
        </p:nvSpPr>
        <p:spPr>
          <a:xfrm>
            <a:off x="6080760" y="3264408"/>
            <a:ext cx="1097280" cy="320040"/>
          </a:xfrm>
          <a:prstGeom prst="rect">
            <a:avLst/>
          </a:prstGeom>
          <a:solidFill>
            <a:srgbClr val="1E33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9"/>
          <p:cNvSpPr/>
          <p:nvPr/>
        </p:nvSpPr>
        <p:spPr>
          <a:xfrm>
            <a:off x="6126480" y="326440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F5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4F5B0"/>
                </a:solidFill>
                <a:latin typeface="Calibri"/>
                <a:ea typeface="Calibri"/>
                <a:cs typeface="Calibri"/>
                <a:sym typeface="Calibri"/>
              </a:rPr>
              <a:t>−45%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9"/>
          <p:cNvSpPr/>
          <p:nvPr/>
        </p:nvSpPr>
        <p:spPr>
          <a:xfrm>
            <a:off x="411480" y="3584448"/>
            <a:ext cx="2103120" cy="320040"/>
          </a:xfrm>
          <a:prstGeom prst="rect">
            <a:avLst/>
          </a:prstGeom>
          <a:solidFill>
            <a:srgbClr val="263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9"/>
          <p:cNvSpPr/>
          <p:nvPr/>
        </p:nvSpPr>
        <p:spPr>
          <a:xfrm>
            <a:off x="457200" y="358444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 / Rework 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9"/>
          <p:cNvSpPr/>
          <p:nvPr/>
        </p:nvSpPr>
        <p:spPr>
          <a:xfrm>
            <a:off x="2606040" y="3584448"/>
            <a:ext cx="1645920" cy="320040"/>
          </a:xfrm>
          <a:prstGeom prst="rect">
            <a:avLst/>
          </a:prstGeom>
          <a:solidFill>
            <a:srgbClr val="263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9"/>
          <p:cNvSpPr/>
          <p:nvPr/>
        </p:nvSpPr>
        <p:spPr>
          <a:xfrm>
            <a:off x="2651760" y="358444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3.2%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9"/>
          <p:cNvSpPr/>
          <p:nvPr/>
        </p:nvSpPr>
        <p:spPr>
          <a:xfrm>
            <a:off x="4343400" y="3584448"/>
            <a:ext cx="1645920" cy="320040"/>
          </a:xfrm>
          <a:prstGeom prst="rect">
            <a:avLst/>
          </a:prstGeom>
          <a:solidFill>
            <a:srgbClr val="263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9"/>
          <p:cNvSpPr/>
          <p:nvPr/>
        </p:nvSpPr>
        <p:spPr>
          <a:xfrm>
            <a:off x="4389120" y="358444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1.2%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9"/>
          <p:cNvSpPr/>
          <p:nvPr/>
        </p:nvSpPr>
        <p:spPr>
          <a:xfrm>
            <a:off x="6080760" y="3584448"/>
            <a:ext cx="1097280" cy="320040"/>
          </a:xfrm>
          <a:prstGeom prst="rect">
            <a:avLst/>
          </a:prstGeom>
          <a:solidFill>
            <a:srgbClr val="263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9"/>
          <p:cNvSpPr/>
          <p:nvPr/>
        </p:nvSpPr>
        <p:spPr>
          <a:xfrm>
            <a:off x="6126480" y="358444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F5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4F5B0"/>
                </a:solidFill>
                <a:latin typeface="Calibri"/>
                <a:ea typeface="Calibri"/>
                <a:cs typeface="Calibri"/>
                <a:sym typeface="Calibri"/>
              </a:rPr>
              <a:t>−62%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9"/>
          <p:cNvSpPr/>
          <p:nvPr/>
        </p:nvSpPr>
        <p:spPr>
          <a:xfrm>
            <a:off x="411480" y="3904488"/>
            <a:ext cx="2103120" cy="320040"/>
          </a:xfrm>
          <a:prstGeom prst="rect">
            <a:avLst/>
          </a:prstGeom>
          <a:solidFill>
            <a:srgbClr val="1E33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9"/>
          <p:cNvSpPr/>
          <p:nvPr/>
        </p:nvSpPr>
        <p:spPr>
          <a:xfrm>
            <a:off x="457200" y="39044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Same-Day Settlement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9"/>
          <p:cNvSpPr/>
          <p:nvPr/>
        </p:nvSpPr>
        <p:spPr>
          <a:xfrm>
            <a:off x="2606040" y="3904488"/>
            <a:ext cx="1645920" cy="320040"/>
          </a:xfrm>
          <a:prstGeom prst="rect">
            <a:avLst/>
          </a:prstGeom>
          <a:solidFill>
            <a:srgbClr val="1E33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9"/>
          <p:cNvSpPr/>
          <p:nvPr/>
        </p:nvSpPr>
        <p:spPr>
          <a:xfrm>
            <a:off x="2651760" y="390448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89%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9"/>
          <p:cNvSpPr/>
          <p:nvPr/>
        </p:nvSpPr>
        <p:spPr>
          <a:xfrm>
            <a:off x="4343400" y="3904488"/>
            <a:ext cx="1645920" cy="320040"/>
          </a:xfrm>
          <a:prstGeom prst="rect">
            <a:avLst/>
          </a:prstGeom>
          <a:solidFill>
            <a:srgbClr val="1E33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9"/>
          <p:cNvSpPr/>
          <p:nvPr/>
        </p:nvSpPr>
        <p:spPr>
          <a:xfrm>
            <a:off x="4389120" y="390448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97.5%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9"/>
          <p:cNvSpPr/>
          <p:nvPr/>
        </p:nvSpPr>
        <p:spPr>
          <a:xfrm>
            <a:off x="6080760" y="3904488"/>
            <a:ext cx="1097280" cy="320040"/>
          </a:xfrm>
          <a:prstGeom prst="rect">
            <a:avLst/>
          </a:prstGeom>
          <a:solidFill>
            <a:srgbClr val="1E33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9"/>
          <p:cNvSpPr/>
          <p:nvPr/>
        </p:nvSpPr>
        <p:spPr>
          <a:xfrm>
            <a:off x="6126480" y="390448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F5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4F5B0"/>
                </a:solidFill>
                <a:latin typeface="Calibri"/>
                <a:ea typeface="Calibri"/>
                <a:cs typeface="Calibri"/>
                <a:sym typeface="Calibri"/>
              </a:rPr>
              <a:t>+8.5pp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9"/>
          <p:cNvSpPr/>
          <p:nvPr/>
        </p:nvSpPr>
        <p:spPr>
          <a:xfrm>
            <a:off x="411480" y="4224528"/>
            <a:ext cx="2103120" cy="320040"/>
          </a:xfrm>
          <a:prstGeom prst="rect">
            <a:avLst/>
          </a:prstGeom>
          <a:solidFill>
            <a:srgbClr val="263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9"/>
          <p:cNvSpPr/>
          <p:nvPr/>
        </p:nvSpPr>
        <p:spPr>
          <a:xfrm>
            <a:off x="457200" y="422452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Rework Cost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9"/>
          <p:cNvSpPr/>
          <p:nvPr/>
        </p:nvSpPr>
        <p:spPr>
          <a:xfrm>
            <a:off x="2606040" y="4224528"/>
            <a:ext cx="1645920" cy="320040"/>
          </a:xfrm>
          <a:prstGeom prst="rect">
            <a:avLst/>
          </a:prstGeom>
          <a:solidFill>
            <a:srgbClr val="263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9"/>
          <p:cNvSpPr/>
          <p:nvPr/>
        </p:nvSpPr>
        <p:spPr>
          <a:xfrm>
            <a:off x="2651760" y="422452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$28,400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9"/>
          <p:cNvSpPr/>
          <p:nvPr/>
        </p:nvSpPr>
        <p:spPr>
          <a:xfrm>
            <a:off x="4343400" y="4224528"/>
            <a:ext cx="1645920" cy="320040"/>
          </a:xfrm>
          <a:prstGeom prst="rect">
            <a:avLst/>
          </a:prstGeom>
          <a:solidFill>
            <a:srgbClr val="263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9"/>
          <p:cNvSpPr/>
          <p:nvPr/>
        </p:nvSpPr>
        <p:spPr>
          <a:xfrm>
            <a:off x="4389120" y="422452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$8,500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9"/>
          <p:cNvSpPr/>
          <p:nvPr/>
        </p:nvSpPr>
        <p:spPr>
          <a:xfrm>
            <a:off x="6080760" y="4224528"/>
            <a:ext cx="1097280" cy="320040"/>
          </a:xfrm>
          <a:prstGeom prst="rect">
            <a:avLst/>
          </a:prstGeom>
          <a:solidFill>
            <a:srgbClr val="263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9"/>
          <p:cNvSpPr/>
          <p:nvPr/>
        </p:nvSpPr>
        <p:spPr>
          <a:xfrm>
            <a:off x="6126480" y="422452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F5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4F5B0"/>
                </a:solidFill>
                <a:latin typeface="Calibri"/>
                <a:ea typeface="Calibri"/>
                <a:cs typeface="Calibri"/>
                <a:sym typeface="Calibri"/>
              </a:rPr>
              <a:t>−$19,900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9"/>
          <p:cNvSpPr/>
          <p:nvPr/>
        </p:nvSpPr>
        <p:spPr>
          <a:xfrm>
            <a:off x="411480" y="4544568"/>
            <a:ext cx="2103120" cy="320040"/>
          </a:xfrm>
          <a:prstGeom prst="rect">
            <a:avLst/>
          </a:prstGeom>
          <a:solidFill>
            <a:srgbClr val="1E33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9"/>
          <p:cNvSpPr/>
          <p:nvPr/>
        </p:nvSpPr>
        <p:spPr>
          <a:xfrm>
            <a:off x="457200" y="454456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 Sigma Level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9"/>
          <p:cNvSpPr/>
          <p:nvPr/>
        </p:nvSpPr>
        <p:spPr>
          <a:xfrm>
            <a:off x="2606040" y="4544568"/>
            <a:ext cx="1645920" cy="320040"/>
          </a:xfrm>
          <a:prstGeom prst="rect">
            <a:avLst/>
          </a:prstGeom>
          <a:solidFill>
            <a:srgbClr val="1E33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9"/>
          <p:cNvSpPr/>
          <p:nvPr/>
        </p:nvSpPr>
        <p:spPr>
          <a:xfrm>
            <a:off x="2651760" y="454456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1.52σ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9"/>
          <p:cNvSpPr/>
          <p:nvPr/>
        </p:nvSpPr>
        <p:spPr>
          <a:xfrm>
            <a:off x="4343400" y="4544568"/>
            <a:ext cx="1645920" cy="320040"/>
          </a:xfrm>
          <a:prstGeom prst="rect">
            <a:avLst/>
          </a:prstGeom>
          <a:solidFill>
            <a:srgbClr val="1E33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9"/>
          <p:cNvSpPr/>
          <p:nvPr/>
        </p:nvSpPr>
        <p:spPr>
          <a:xfrm>
            <a:off x="4389120" y="454456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3.2σ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9"/>
          <p:cNvSpPr/>
          <p:nvPr/>
        </p:nvSpPr>
        <p:spPr>
          <a:xfrm>
            <a:off x="6080760" y="4544568"/>
            <a:ext cx="1097280" cy="320040"/>
          </a:xfrm>
          <a:prstGeom prst="rect">
            <a:avLst/>
          </a:prstGeom>
          <a:solidFill>
            <a:srgbClr val="1E33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9"/>
          <p:cNvSpPr/>
          <p:nvPr/>
        </p:nvSpPr>
        <p:spPr>
          <a:xfrm>
            <a:off x="6126480" y="454456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F5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4F5B0"/>
                </a:solidFill>
                <a:latin typeface="Calibri"/>
                <a:ea typeface="Calibri"/>
                <a:cs typeface="Calibri"/>
                <a:sym typeface="Calibri"/>
              </a:rPr>
              <a:t>+1.68σ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9"/>
          <p:cNvSpPr/>
          <p:nvPr/>
        </p:nvSpPr>
        <p:spPr>
          <a:xfrm>
            <a:off x="411480" y="4864608"/>
            <a:ext cx="2103120" cy="320040"/>
          </a:xfrm>
          <a:prstGeom prst="rect">
            <a:avLst/>
          </a:prstGeom>
          <a:solidFill>
            <a:srgbClr val="263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9"/>
          <p:cNvSpPr/>
          <p:nvPr/>
        </p:nvSpPr>
        <p:spPr>
          <a:xfrm>
            <a:off x="457200" y="486460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Escalations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9"/>
          <p:cNvSpPr/>
          <p:nvPr/>
        </p:nvSpPr>
        <p:spPr>
          <a:xfrm>
            <a:off x="2606040" y="4864608"/>
            <a:ext cx="1645920" cy="320040"/>
          </a:xfrm>
          <a:prstGeom prst="rect">
            <a:avLst/>
          </a:prstGeom>
          <a:solidFill>
            <a:srgbClr val="263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9"/>
          <p:cNvSpPr/>
          <p:nvPr/>
        </p:nvSpPr>
        <p:spPr>
          <a:xfrm>
            <a:off x="2651760" y="486460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~22/month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9"/>
          <p:cNvSpPr/>
          <p:nvPr/>
        </p:nvSpPr>
        <p:spPr>
          <a:xfrm>
            <a:off x="4343400" y="4864608"/>
            <a:ext cx="1645920" cy="320040"/>
          </a:xfrm>
          <a:prstGeom prst="rect">
            <a:avLst/>
          </a:prstGeom>
          <a:solidFill>
            <a:srgbClr val="263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9"/>
          <p:cNvSpPr/>
          <p:nvPr/>
        </p:nvSpPr>
        <p:spPr>
          <a:xfrm>
            <a:off x="4389120" y="486460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~10/month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9"/>
          <p:cNvSpPr/>
          <p:nvPr/>
        </p:nvSpPr>
        <p:spPr>
          <a:xfrm>
            <a:off x="6080760" y="4864608"/>
            <a:ext cx="1097280" cy="320040"/>
          </a:xfrm>
          <a:prstGeom prst="rect">
            <a:avLst/>
          </a:prstGeom>
          <a:solidFill>
            <a:srgbClr val="263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9"/>
          <p:cNvSpPr/>
          <p:nvPr/>
        </p:nvSpPr>
        <p:spPr>
          <a:xfrm>
            <a:off x="6126480" y="486460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F5B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4F5B0"/>
                </a:solidFill>
                <a:latin typeface="Calibri"/>
                <a:ea typeface="Calibri"/>
                <a:cs typeface="Calibri"/>
                <a:sym typeface="Calibri"/>
              </a:rPr>
              <a:t>−55%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9"/>
          <p:cNvSpPr/>
          <p:nvPr/>
        </p:nvSpPr>
        <p:spPr>
          <a:xfrm>
            <a:off x="7315200" y="2578608"/>
            <a:ext cx="1463040" cy="2286000"/>
          </a:xfrm>
          <a:prstGeom prst="rect">
            <a:avLst/>
          </a:prstGeom>
          <a:solidFill>
            <a:srgbClr val="F0C040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9"/>
          <p:cNvSpPr/>
          <p:nvPr/>
        </p:nvSpPr>
        <p:spPr>
          <a:xfrm>
            <a:off x="7315200" y="26517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ROI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9"/>
          <p:cNvSpPr/>
          <p:nvPr/>
        </p:nvSpPr>
        <p:spPr>
          <a:xfrm>
            <a:off x="7315200" y="301752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~3.2×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9"/>
          <p:cNvSpPr/>
          <p:nvPr/>
        </p:nvSpPr>
        <p:spPr>
          <a:xfrm>
            <a:off x="7315200" y="3584448"/>
            <a:ext cx="1463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Est.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cost: ~$105K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Benefit: $340K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Payback: ~4 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0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STEPS &amp; IMPLEMENTATION TIMELINE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0"/>
          <p:cNvSpPr/>
          <p:nvPr/>
        </p:nvSpPr>
        <p:spPr>
          <a:xfrm>
            <a:off x="320040" y="896112"/>
            <a:ext cx="1280160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0"/>
          <p:cNvSpPr/>
          <p:nvPr/>
        </p:nvSpPr>
        <p:spPr>
          <a:xfrm>
            <a:off x="320040" y="896112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Wk 1–2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0"/>
          <p:cNvSpPr/>
          <p:nvPr/>
        </p:nvSpPr>
        <p:spPr>
          <a:xfrm>
            <a:off x="1691640" y="987552"/>
            <a:ext cx="5029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0"/>
          <p:cNvSpPr/>
          <p:nvPr/>
        </p:nvSpPr>
        <p:spPr>
          <a:xfrm>
            <a:off x="1691640" y="987552"/>
            <a:ext cx="9144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0"/>
          <p:cNvSpPr/>
          <p:nvPr/>
        </p:nvSpPr>
        <p:spPr>
          <a:xfrm>
            <a:off x="1856232" y="987552"/>
            <a:ext cx="47548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✔ Finalize project charter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0"/>
          <p:cNvSpPr/>
          <p:nvPr/>
        </p:nvSpPr>
        <p:spPr>
          <a:xfrm>
            <a:off x="1856232" y="1147572"/>
            <a:ext cx="47548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✔ Establish team &amp; RACI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0"/>
          <p:cNvSpPr/>
          <p:nvPr/>
        </p:nvSpPr>
        <p:spPr>
          <a:xfrm>
            <a:off x="1856232" y="1307592"/>
            <a:ext cx="47548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✔ Conduct stakeholder kickoff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0"/>
          <p:cNvSpPr/>
          <p:nvPr/>
        </p:nvSpPr>
        <p:spPr>
          <a:xfrm>
            <a:off x="6858000" y="987552"/>
            <a:ext cx="1920240" cy="475488"/>
          </a:xfrm>
          <a:prstGeom prst="rect">
            <a:avLst/>
          </a:prstGeom>
          <a:solidFill>
            <a:srgbClr val="E8F2FF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0"/>
          <p:cNvSpPr/>
          <p:nvPr/>
        </p:nvSpPr>
        <p:spPr>
          <a:xfrm>
            <a:off x="6858000" y="987552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Owner: Project Sponsor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0"/>
          <p:cNvSpPr/>
          <p:nvPr/>
        </p:nvSpPr>
        <p:spPr>
          <a:xfrm>
            <a:off x="320040" y="1709928"/>
            <a:ext cx="1280160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0"/>
          <p:cNvSpPr/>
          <p:nvPr/>
        </p:nvSpPr>
        <p:spPr>
          <a:xfrm>
            <a:off x="320040" y="1709928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Wk 3–6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0"/>
          <p:cNvSpPr/>
          <p:nvPr/>
        </p:nvSpPr>
        <p:spPr>
          <a:xfrm>
            <a:off x="1691640" y="1801368"/>
            <a:ext cx="5029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0"/>
          <p:cNvSpPr/>
          <p:nvPr/>
        </p:nvSpPr>
        <p:spPr>
          <a:xfrm>
            <a:off x="1691640" y="1801368"/>
            <a:ext cx="91440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0"/>
          <p:cNvSpPr/>
          <p:nvPr/>
        </p:nvSpPr>
        <p:spPr>
          <a:xfrm>
            <a:off x="1856232" y="1801368"/>
            <a:ext cx="47548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✔ Map current state VSM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0"/>
          <p:cNvSpPr/>
          <p:nvPr/>
        </p:nvSpPr>
        <p:spPr>
          <a:xfrm>
            <a:off x="1856232" y="1961388"/>
            <a:ext cx="47548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✔ Collect 4-week transaction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0"/>
          <p:cNvSpPr/>
          <p:nvPr/>
        </p:nvSpPr>
        <p:spPr>
          <a:xfrm>
            <a:off x="1856232" y="2121408"/>
            <a:ext cx="47548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✔ Establish baseline sigma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0"/>
          <p:cNvSpPr/>
          <p:nvPr/>
        </p:nvSpPr>
        <p:spPr>
          <a:xfrm>
            <a:off x="6858000" y="1801368"/>
            <a:ext cx="1920240" cy="475488"/>
          </a:xfrm>
          <a:prstGeom prst="rect">
            <a:avLst/>
          </a:prstGeom>
          <a:solidFill>
            <a:srgbClr val="E8F2FF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0"/>
          <p:cNvSpPr/>
          <p:nvPr/>
        </p:nvSpPr>
        <p:spPr>
          <a:xfrm>
            <a:off x="6858000" y="180136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Owner: BA + Ops Analyst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0"/>
          <p:cNvSpPr/>
          <p:nvPr/>
        </p:nvSpPr>
        <p:spPr>
          <a:xfrm>
            <a:off x="320040" y="2523744"/>
            <a:ext cx="1280160" cy="65836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0"/>
          <p:cNvSpPr/>
          <p:nvPr/>
        </p:nvSpPr>
        <p:spPr>
          <a:xfrm>
            <a:off x="320040" y="2523744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Wk 7–10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0"/>
          <p:cNvSpPr/>
          <p:nvPr/>
        </p:nvSpPr>
        <p:spPr>
          <a:xfrm>
            <a:off x="1691640" y="2615184"/>
            <a:ext cx="5029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0"/>
          <p:cNvSpPr/>
          <p:nvPr/>
        </p:nvSpPr>
        <p:spPr>
          <a:xfrm>
            <a:off x="1691640" y="2615184"/>
            <a:ext cx="91440" cy="4754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0"/>
          <p:cNvSpPr/>
          <p:nvPr/>
        </p:nvSpPr>
        <p:spPr>
          <a:xfrm>
            <a:off x="1856232" y="2615184"/>
            <a:ext cx="47548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✔ Run root cause workshops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0"/>
          <p:cNvSpPr/>
          <p:nvPr/>
        </p:nvSpPr>
        <p:spPr>
          <a:xfrm>
            <a:off x="1856232" y="2775204"/>
            <a:ext cx="47548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✔ Validate 5-Why findings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0"/>
          <p:cNvSpPr/>
          <p:nvPr/>
        </p:nvSpPr>
        <p:spPr>
          <a:xfrm>
            <a:off x="1856232" y="2935224"/>
            <a:ext cx="47548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✔ Prioritize improvement areas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0"/>
          <p:cNvSpPr/>
          <p:nvPr/>
        </p:nvSpPr>
        <p:spPr>
          <a:xfrm>
            <a:off x="6858000" y="2615184"/>
            <a:ext cx="1920240" cy="475488"/>
          </a:xfrm>
          <a:prstGeom prst="rect">
            <a:avLst/>
          </a:prstGeom>
          <a:solidFill>
            <a:srgbClr val="E8F2FF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0"/>
          <p:cNvSpPr/>
          <p:nvPr/>
        </p:nvSpPr>
        <p:spPr>
          <a:xfrm>
            <a:off x="6858000" y="2615184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Owner: BA + QA Lead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0"/>
          <p:cNvSpPr/>
          <p:nvPr/>
        </p:nvSpPr>
        <p:spPr>
          <a:xfrm>
            <a:off x="320040" y="3337560"/>
            <a:ext cx="1280160" cy="658368"/>
          </a:xfrm>
          <a:prstGeom prst="rect">
            <a:avLst/>
          </a:prstGeom>
          <a:solidFill>
            <a:srgbClr val="1A7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0"/>
          <p:cNvSpPr/>
          <p:nvPr/>
        </p:nvSpPr>
        <p:spPr>
          <a:xfrm>
            <a:off x="320040" y="3337560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Wk 11–16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0"/>
          <p:cNvSpPr/>
          <p:nvPr/>
        </p:nvSpPr>
        <p:spPr>
          <a:xfrm>
            <a:off x="1691640" y="3429000"/>
            <a:ext cx="5029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0"/>
          <p:cNvSpPr/>
          <p:nvPr/>
        </p:nvSpPr>
        <p:spPr>
          <a:xfrm>
            <a:off x="1691640" y="3429000"/>
            <a:ext cx="91440" cy="475488"/>
          </a:xfrm>
          <a:prstGeom prst="rect">
            <a:avLst/>
          </a:prstGeom>
          <a:solidFill>
            <a:srgbClr val="1A7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0"/>
          <p:cNvSpPr/>
          <p:nvPr/>
        </p:nvSpPr>
        <p:spPr>
          <a:xfrm>
            <a:off x="1856232" y="3429000"/>
            <a:ext cx="47548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✔ Build automation templates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0"/>
          <p:cNvSpPr/>
          <p:nvPr/>
        </p:nvSpPr>
        <p:spPr>
          <a:xfrm>
            <a:off x="1856232" y="3589020"/>
            <a:ext cx="47548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✔ Pilot risk-tiered controls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0"/>
          <p:cNvSpPr/>
          <p:nvPr/>
        </p:nvSpPr>
        <p:spPr>
          <a:xfrm>
            <a:off x="1856232" y="3749040"/>
            <a:ext cx="47548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✔ Deploy SOP library v1.0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0"/>
          <p:cNvSpPr/>
          <p:nvPr/>
        </p:nvSpPr>
        <p:spPr>
          <a:xfrm>
            <a:off x="6858000" y="3429000"/>
            <a:ext cx="1920240" cy="475488"/>
          </a:xfrm>
          <a:prstGeom prst="rect">
            <a:avLst/>
          </a:prstGeom>
          <a:solidFill>
            <a:srgbClr val="E8F2FF"/>
          </a:solidFill>
          <a:ln cap="flat" cmpd="sng" w="12700">
            <a:solidFill>
              <a:srgbClr val="1A7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0"/>
          <p:cNvSpPr/>
          <p:nvPr/>
        </p:nvSpPr>
        <p:spPr>
          <a:xfrm>
            <a:off x="6858000" y="342900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Owner: Dev + BA + Ops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0"/>
          <p:cNvSpPr/>
          <p:nvPr/>
        </p:nvSpPr>
        <p:spPr>
          <a:xfrm>
            <a:off x="320040" y="4151376"/>
            <a:ext cx="1280160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0"/>
          <p:cNvSpPr/>
          <p:nvPr/>
        </p:nvSpPr>
        <p:spPr>
          <a:xfrm>
            <a:off x="320040" y="4151376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Wk 17–20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0"/>
          <p:cNvSpPr/>
          <p:nvPr/>
        </p:nvSpPr>
        <p:spPr>
          <a:xfrm>
            <a:off x="1691640" y="4242816"/>
            <a:ext cx="50292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0"/>
          <p:cNvSpPr/>
          <p:nvPr/>
        </p:nvSpPr>
        <p:spPr>
          <a:xfrm>
            <a:off x="1691640" y="4242816"/>
            <a:ext cx="91440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0"/>
          <p:cNvSpPr/>
          <p:nvPr/>
        </p:nvSpPr>
        <p:spPr>
          <a:xfrm>
            <a:off x="1856232" y="4242816"/>
            <a:ext cx="47548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✔ Launch ops 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0"/>
          <p:cNvSpPr/>
          <p:nvPr/>
        </p:nvSpPr>
        <p:spPr>
          <a:xfrm>
            <a:off x="1856232" y="4402836"/>
            <a:ext cx="47548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✔ Complete staff certification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0"/>
          <p:cNvSpPr/>
          <p:nvPr/>
        </p:nvSpPr>
        <p:spPr>
          <a:xfrm>
            <a:off x="1856232" y="4562856"/>
            <a:ext cx="47548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✔ Transition to BAU ownership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0"/>
          <p:cNvSpPr/>
          <p:nvPr/>
        </p:nvSpPr>
        <p:spPr>
          <a:xfrm>
            <a:off x="6858000" y="4242816"/>
            <a:ext cx="1920240" cy="475488"/>
          </a:xfrm>
          <a:prstGeom prst="rect">
            <a:avLst/>
          </a:prstGeom>
          <a:solidFill>
            <a:srgbClr val="E8F2FF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0"/>
          <p:cNvSpPr/>
          <p:nvPr/>
        </p:nvSpPr>
        <p:spPr>
          <a:xfrm>
            <a:off x="6858000" y="4242816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6B"/>
                </a:solidFill>
                <a:latin typeface="Calibri"/>
                <a:ea typeface="Calibri"/>
                <a:cs typeface="Calibri"/>
                <a:sym typeface="Calibri"/>
              </a:rPr>
              <a:t>Owner: Ops Manager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0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0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Requesting executive approval to mobilize project team and begin DEFINE phase in Q2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2026-03-24T22:02:47Z</dcterms:created>
  <dc:creator>PptxGenJS</dc:creator>
</cp:coreProperties>
</file>